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61" r:id="rId6"/>
    <p:sldId id="260" r:id="rId7"/>
    <p:sldId id="265" r:id="rId8"/>
    <p:sldId id="263" r:id="rId9"/>
    <p:sldId id="266" r:id="rId10"/>
    <p:sldId id="264"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2471"/>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9" d="100"/>
          <a:sy n="89" d="100"/>
        </p:scale>
        <p:origin x="3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922E1-E09C-4D3F-AB96-B950D45F1A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C8D8BE-EDBA-4A21-905A-9E8CD84758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07AB3F-C0BF-4777-AA88-3D270A396F41}"/>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5" name="Footer Placeholder 4">
            <a:extLst>
              <a:ext uri="{FF2B5EF4-FFF2-40B4-BE49-F238E27FC236}">
                <a16:creationId xmlns:a16="http://schemas.microsoft.com/office/drawing/2014/main" id="{C88F31E2-592B-4079-A869-F3A6B5771C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6E5029-AE23-44AF-9E4C-35C8640D1F06}"/>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1565377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1BED-8A42-4AE5-A306-1F5B2B2F94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8441A6-FEF3-4FF2-A9E9-E56A653E46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93C98E-6E8D-4215-9E3D-58EF668C2C05}"/>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5" name="Footer Placeholder 4">
            <a:extLst>
              <a:ext uri="{FF2B5EF4-FFF2-40B4-BE49-F238E27FC236}">
                <a16:creationId xmlns:a16="http://schemas.microsoft.com/office/drawing/2014/main" id="{E021FAC1-E117-48B6-AD3E-F9B479D6E8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D5FB8C-99FE-4E44-A2E6-4E6F79A9FBA0}"/>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1845850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FE3A-967F-4B9D-A67A-0EFAC66D00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4BEE689-F76C-443B-BC1A-742DB02E4D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39D8FB-B795-4C0A-A50E-F23D7E10A8A3}"/>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5" name="Footer Placeholder 4">
            <a:extLst>
              <a:ext uri="{FF2B5EF4-FFF2-40B4-BE49-F238E27FC236}">
                <a16:creationId xmlns:a16="http://schemas.microsoft.com/office/drawing/2014/main" id="{640B2926-F240-4697-A615-2F4FB0FCD7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184E4E-71D6-4887-929C-B44D82F647F8}"/>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4111759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62B9B-5330-4E87-B2ED-1D06D2E200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103AD0-58AD-4AE5-A8BB-5212E766A8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5F0BB8-3BFA-4A0A-A860-5290832321F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AEA816-E098-4AA5-970D-DC420571C566}"/>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6" name="Footer Placeholder 5">
            <a:extLst>
              <a:ext uri="{FF2B5EF4-FFF2-40B4-BE49-F238E27FC236}">
                <a16:creationId xmlns:a16="http://schemas.microsoft.com/office/drawing/2014/main" id="{7EC5B765-89E1-4C36-BD0F-533FDE6788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ABB6B0-5AFA-4BBF-85A2-39A509F64F3E}"/>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4070021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59881-C5EA-462A-B734-B6E67E7881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9A78DB-CFCF-4A9F-8171-6414B38EDB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1EDA5B-BD76-44DB-B054-EC05670C6E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FC59BF-16AC-4B3F-AAD6-DABF5034CC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745E4B-B2DB-483A-9C3A-8DBDD3A1A3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368F41-7A8A-4A69-B7BA-A08135C9440D}"/>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8" name="Footer Placeholder 7">
            <a:extLst>
              <a:ext uri="{FF2B5EF4-FFF2-40B4-BE49-F238E27FC236}">
                <a16:creationId xmlns:a16="http://schemas.microsoft.com/office/drawing/2014/main" id="{591DCC47-A8C9-42FE-8283-25F05BEEEB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298ABA-D296-4894-8062-90E265A7738D}"/>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3228444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3AA1B-DA0A-4D9E-8B58-92283D4658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B5048E-82FE-4972-9080-3F669F8EB5A5}"/>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4" name="Footer Placeholder 3">
            <a:extLst>
              <a:ext uri="{FF2B5EF4-FFF2-40B4-BE49-F238E27FC236}">
                <a16:creationId xmlns:a16="http://schemas.microsoft.com/office/drawing/2014/main" id="{603BCB79-4D25-4773-AA01-93C1D20D57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AA848C-C892-47B0-9E16-7F1BF0789179}"/>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1803563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ADF960-692F-4524-9DCB-9F046D6701B3}"/>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3" name="Footer Placeholder 2">
            <a:extLst>
              <a:ext uri="{FF2B5EF4-FFF2-40B4-BE49-F238E27FC236}">
                <a16:creationId xmlns:a16="http://schemas.microsoft.com/office/drawing/2014/main" id="{0B17AA51-B645-47F4-A689-F91062D749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0590A8-8F69-4BD6-B120-C3A5D1D21AC7}"/>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3544082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04B36-D1B4-45F8-934E-9741D954F0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E77D1EA-A68F-48A9-B82D-8CBB5AFEAE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9BEB4B-AA10-456A-91C0-B1A35BA597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578F7A-712E-4D29-8C44-953D7A782DFC}"/>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6" name="Footer Placeholder 5">
            <a:extLst>
              <a:ext uri="{FF2B5EF4-FFF2-40B4-BE49-F238E27FC236}">
                <a16:creationId xmlns:a16="http://schemas.microsoft.com/office/drawing/2014/main" id="{F03BAC43-60B2-4663-8870-83A12D44D8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94049F-9A07-4A96-9AD9-280691E4710A}"/>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2037043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B4DC-291B-4E16-B086-FF1A045B82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11B5356-C366-4739-8F98-E384CDE052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8B48319-7056-4D41-AC5D-CD8AACB83E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4FB970-76A8-4FB7-A720-B3DAE2196424}"/>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6" name="Footer Placeholder 5">
            <a:extLst>
              <a:ext uri="{FF2B5EF4-FFF2-40B4-BE49-F238E27FC236}">
                <a16:creationId xmlns:a16="http://schemas.microsoft.com/office/drawing/2014/main" id="{BB28C49E-381F-45CE-8CCB-CBDCFBF209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90A948-9565-425B-ABB4-B8569CE1B6E1}"/>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717782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13DC1-A729-4F85-84BC-B20B85F6DF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336218-708E-45CB-AA6C-C869E10610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5E92D3-0B3D-4766-940D-3917967E8F27}"/>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5" name="Footer Placeholder 4">
            <a:extLst>
              <a:ext uri="{FF2B5EF4-FFF2-40B4-BE49-F238E27FC236}">
                <a16:creationId xmlns:a16="http://schemas.microsoft.com/office/drawing/2014/main" id="{6A1F436F-7004-4655-9394-671920AF03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168596-9DDF-48F1-9B3E-6878D708C815}"/>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726497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E43F0C7-D7A4-43C9-BC95-4B88771133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96EEDA-F8DE-47A3-A6D7-06428E132F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B6E35-CB75-4A51-90AD-3C1891D7DA1B}"/>
              </a:ext>
            </a:extLst>
          </p:cNvPr>
          <p:cNvSpPr>
            <a:spLocks noGrp="1"/>
          </p:cNvSpPr>
          <p:nvPr>
            <p:ph type="dt" sz="half" idx="10"/>
          </p:nvPr>
        </p:nvSpPr>
        <p:spPr/>
        <p:txBody>
          <a:bodyPr/>
          <a:lstStyle/>
          <a:p>
            <a:fld id="{9D8A842A-487D-41B0-B3AA-D11EF09952FF}" type="datetimeFigureOut">
              <a:rPr lang="en-US" smtClean="0"/>
              <a:t>12/3/2025</a:t>
            </a:fld>
            <a:endParaRPr lang="en-US"/>
          </a:p>
        </p:txBody>
      </p:sp>
      <p:sp>
        <p:nvSpPr>
          <p:cNvPr id="5" name="Footer Placeholder 4">
            <a:extLst>
              <a:ext uri="{FF2B5EF4-FFF2-40B4-BE49-F238E27FC236}">
                <a16:creationId xmlns:a16="http://schemas.microsoft.com/office/drawing/2014/main" id="{36918F28-2EB2-41C9-8613-CB6CBB4307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E2105-C26B-4FA6-8267-5F2060D4F102}"/>
              </a:ext>
            </a:extLst>
          </p:cNvPr>
          <p:cNvSpPr>
            <a:spLocks noGrp="1"/>
          </p:cNvSpPr>
          <p:nvPr>
            <p:ph type="sldNum" sz="quarter" idx="12"/>
          </p:nvPr>
        </p:nvSpPr>
        <p:spPr/>
        <p:txBody>
          <a:bodyPr/>
          <a:lstStyle/>
          <a:p>
            <a:fld id="{93F3BEED-FD79-4D2A-B417-5CBA802432C9}" type="slidenum">
              <a:rPr lang="en-US" smtClean="0"/>
              <a:t>‹#›</a:t>
            </a:fld>
            <a:endParaRPr lang="en-US"/>
          </a:p>
        </p:txBody>
      </p:sp>
    </p:spTree>
    <p:extLst>
      <p:ext uri="{BB962C8B-B14F-4D97-AF65-F5344CB8AC3E}">
        <p14:creationId xmlns:p14="http://schemas.microsoft.com/office/powerpoint/2010/main" val="3278249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939FBD-2195-40F8-A107-A442DC01DC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DD779F9-248F-407C-99BC-C342864AF7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0A7DF2-7D66-4332-B7F0-2AAF255188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8A842A-487D-41B0-B3AA-D11EF09952FF}" type="datetimeFigureOut">
              <a:rPr lang="en-US" smtClean="0"/>
              <a:t>12/3/2025</a:t>
            </a:fld>
            <a:endParaRPr lang="en-US"/>
          </a:p>
        </p:txBody>
      </p:sp>
      <p:sp>
        <p:nvSpPr>
          <p:cNvPr id="5" name="Footer Placeholder 4">
            <a:extLst>
              <a:ext uri="{FF2B5EF4-FFF2-40B4-BE49-F238E27FC236}">
                <a16:creationId xmlns:a16="http://schemas.microsoft.com/office/drawing/2014/main" id="{A4E7A08E-576F-4772-937A-2912542499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C467322-59C9-40D5-8AF8-16E9982696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3BEED-FD79-4D2A-B417-5CBA802432C9}" type="slidenum">
              <a:rPr lang="en-US" smtClean="0"/>
              <a:t>‹#›</a:t>
            </a:fld>
            <a:endParaRPr lang="en-US"/>
          </a:p>
        </p:txBody>
      </p:sp>
    </p:spTree>
    <p:extLst>
      <p:ext uri="{BB962C8B-B14F-4D97-AF65-F5344CB8AC3E}">
        <p14:creationId xmlns:p14="http://schemas.microsoft.com/office/powerpoint/2010/main" val="540865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FarhanRafid382/CinemaBookingSystemFina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09106-74BA-4032-88A1-7F4BA22EEDE3}"/>
              </a:ext>
            </a:extLst>
          </p:cNvPr>
          <p:cNvSpPr>
            <a:spLocks noGrp="1"/>
          </p:cNvSpPr>
          <p:nvPr>
            <p:ph type="ctrTitle"/>
          </p:nvPr>
        </p:nvSpPr>
        <p:spPr>
          <a:ln/>
        </p:spPr>
        <p:style>
          <a:lnRef idx="1">
            <a:schemeClr val="accent5"/>
          </a:lnRef>
          <a:fillRef idx="2">
            <a:schemeClr val="accent5"/>
          </a:fillRef>
          <a:effectRef idx="1">
            <a:schemeClr val="accent5"/>
          </a:effectRef>
          <a:fontRef idx="minor">
            <a:schemeClr val="dk1"/>
          </a:fontRef>
        </p:style>
        <p:txBody>
          <a:bodyPr>
            <a:normAutofit/>
          </a:bodyPr>
          <a:lstStyle/>
          <a:p>
            <a:r>
              <a:rPr lang="en-US" dirty="0"/>
              <a:t>Project:</a:t>
            </a:r>
            <a:br>
              <a:rPr lang="en-US" dirty="0"/>
            </a:br>
            <a:r>
              <a:rPr lang="en-US" dirty="0"/>
              <a:t>Cinema Booking System</a:t>
            </a:r>
            <a:br>
              <a:rPr lang="en-US" dirty="0"/>
            </a:br>
            <a:r>
              <a:rPr lang="en-US" sz="4000" dirty="0"/>
              <a:t>CSE311, Section-8, Fall-2025</a:t>
            </a:r>
            <a:endParaRPr lang="en-US" dirty="0"/>
          </a:p>
        </p:txBody>
      </p:sp>
      <p:sp>
        <p:nvSpPr>
          <p:cNvPr id="3" name="Subtitle 2">
            <a:extLst>
              <a:ext uri="{FF2B5EF4-FFF2-40B4-BE49-F238E27FC236}">
                <a16:creationId xmlns:a16="http://schemas.microsoft.com/office/drawing/2014/main" id="{C73D4AD8-E266-43AF-B3F5-F6C9FE0BC366}"/>
              </a:ext>
            </a:extLst>
          </p:cNvPr>
          <p:cNvSpPr>
            <a:spLocks noGrp="1"/>
          </p:cNvSpPr>
          <p:nvPr>
            <p:ph type="subTitle" idx="1"/>
          </p:nvPr>
        </p:nvSpPr>
        <p:spPr>
          <a:xfrm>
            <a:off x="1524000" y="3602038"/>
            <a:ext cx="9144000" cy="602214"/>
          </a:xfrm>
          <a:solidFill>
            <a:schemeClr val="accent1"/>
          </a:solidFill>
          <a:ln>
            <a:noFill/>
          </a:ln>
        </p:spPr>
        <p:style>
          <a:lnRef idx="0">
            <a:scrgbClr r="0" g="0" b="0"/>
          </a:lnRef>
          <a:fillRef idx="0">
            <a:scrgbClr r="0" g="0" b="0"/>
          </a:fillRef>
          <a:effectRef idx="0">
            <a:scrgbClr r="0" g="0" b="0"/>
          </a:effectRef>
          <a:fontRef idx="minor">
            <a:schemeClr val="lt1"/>
          </a:fontRef>
        </p:style>
        <p:txBody>
          <a:bodyPr/>
          <a:lstStyle/>
          <a:p>
            <a:r>
              <a:rPr lang="en-US" dirty="0"/>
              <a:t>SL-26: Muhammad Farhan Rafid, ID-2321534042</a:t>
            </a:r>
          </a:p>
        </p:txBody>
      </p:sp>
      <p:sp>
        <p:nvSpPr>
          <p:cNvPr id="4" name="TextBox 3">
            <a:extLst>
              <a:ext uri="{FF2B5EF4-FFF2-40B4-BE49-F238E27FC236}">
                <a16:creationId xmlns:a16="http://schemas.microsoft.com/office/drawing/2014/main" id="{3E50FC85-FDDE-409D-A650-BC91170B4411}"/>
              </a:ext>
            </a:extLst>
          </p:cNvPr>
          <p:cNvSpPr txBox="1"/>
          <p:nvPr/>
        </p:nvSpPr>
        <p:spPr>
          <a:xfrm>
            <a:off x="2951921" y="4336084"/>
            <a:ext cx="6728791" cy="369332"/>
          </a:xfrm>
          <a:prstGeom prst="rect">
            <a:avLst/>
          </a:prstGeom>
          <a:noFill/>
        </p:spPr>
        <p:txBody>
          <a:bodyPr wrap="square" rtlCol="0">
            <a:spAutoFit/>
          </a:bodyPr>
          <a:lstStyle/>
          <a:p>
            <a:r>
              <a:rPr lang="en-US" dirty="0">
                <a:hlinkClick r:id="rId2"/>
              </a:rPr>
              <a:t>https://github.com/FarhanRafid382/CinemaBookingSystemFinal</a:t>
            </a:r>
            <a:endParaRPr lang="en-US" dirty="0"/>
          </a:p>
        </p:txBody>
      </p:sp>
    </p:spTree>
    <p:extLst>
      <p:ext uri="{BB962C8B-B14F-4D97-AF65-F5344CB8AC3E}">
        <p14:creationId xmlns:p14="http://schemas.microsoft.com/office/powerpoint/2010/main" val="3093614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AF302-D2D6-473C-9FA2-162081D6FD8C}"/>
              </a:ext>
            </a:extLst>
          </p:cNvPr>
          <p:cNvSpPr>
            <a:spLocks noGrp="1"/>
          </p:cNvSpPr>
          <p:nvPr>
            <p:ph type="title"/>
          </p:nvPr>
        </p:nvSpPr>
        <p:spPr>
          <a:xfrm>
            <a:off x="0" y="0"/>
            <a:ext cx="12192000" cy="765175"/>
          </a:xfrm>
        </p:spPr>
        <p:style>
          <a:lnRef idx="3">
            <a:schemeClr val="lt1"/>
          </a:lnRef>
          <a:fillRef idx="1">
            <a:schemeClr val="accent1"/>
          </a:fillRef>
          <a:effectRef idx="1">
            <a:schemeClr val="accent1"/>
          </a:effectRef>
          <a:fontRef idx="minor">
            <a:schemeClr val="lt1"/>
          </a:fontRef>
        </p:style>
        <p:txBody>
          <a:bodyPr/>
          <a:lstStyle/>
          <a:p>
            <a:pPr algn="ctr"/>
            <a:r>
              <a:rPr lang="en-US" dirty="0"/>
              <a:t> Project Overview</a:t>
            </a:r>
          </a:p>
        </p:txBody>
      </p:sp>
      <p:sp>
        <p:nvSpPr>
          <p:cNvPr id="4" name="Rectangle 1">
            <a:extLst>
              <a:ext uri="{FF2B5EF4-FFF2-40B4-BE49-F238E27FC236}">
                <a16:creationId xmlns:a16="http://schemas.microsoft.com/office/drawing/2014/main" id="{B1B1585D-5892-44B5-8994-318F96C1049A}"/>
              </a:ext>
            </a:extLst>
          </p:cNvPr>
          <p:cNvSpPr>
            <a:spLocks noGrp="1" noChangeArrowheads="1"/>
          </p:cNvSpPr>
          <p:nvPr>
            <p:ph idx="1"/>
          </p:nvPr>
        </p:nvSpPr>
        <p:spPr bwMode="auto">
          <a:xfrm>
            <a:off x="254000" y="1137056"/>
            <a:ext cx="11645900" cy="5201424"/>
          </a:xfrm>
          <a:prstGeom prst="rect">
            <a:avLst/>
          </a:prstGeom>
          <a:solidFill>
            <a:srgbClr val="092471"/>
          </a:solidFill>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bg1"/>
                </a:solidFill>
                <a:effectLst/>
                <a:latin typeface="Arial" panose="020B0604020202020204" pitchFamily="34" charset="0"/>
              </a:rPr>
              <a:t>Cinema Booking System manages movie scheduling and seat reservations through a structured database.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bg1"/>
                </a:solidFill>
                <a:effectLst/>
                <a:latin typeface="Arial" panose="020B0604020202020204" pitchFamily="34" charset="0"/>
              </a:rPr>
              <a:t>It ensures consistent data, clear relationships, and efficient queries for real-time booking operations.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Arial" panose="020B0604020202020204" pitchFamily="34" charset="0"/>
              </a:rPr>
              <a:t>Stores movies, halls, shows, users, and bookings in normalized tables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Arial" panose="020B0604020202020204" pitchFamily="34" charset="0"/>
              </a:rPr>
              <a:t>Tracks showtimes with linked hall and movie data</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Arial" panose="020B0604020202020204" pitchFamily="34" charset="0"/>
              </a:rPr>
              <a:t>Maps seats per hall and identifies available seats per show</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Arial" panose="020B0604020202020204" pitchFamily="34" charset="0"/>
              </a:rPr>
              <a:t>Supports real-time ticket booking and conflict prevention</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Arial" panose="020B0604020202020204" pitchFamily="34" charset="0"/>
              </a:rPr>
              <a:t>Provides admin functions for adding movies, creating showtimes, and managing halls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Arial" panose="020B0604020202020204" pitchFamily="34" charset="0"/>
              </a:rPr>
              <a:t>Allows users to view movies, browse shows, and reserve seats</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Arial" panose="020B0604020202020204" pitchFamily="34" charset="0"/>
              </a:rPr>
              <a:t>Ensures data integrity through foreign keys and normalization</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bg1"/>
                </a:solidFill>
                <a:effectLst/>
                <a:latin typeface="Arial" panose="020B0604020202020204" pitchFamily="34" charset="0"/>
              </a:rPr>
              <a:t>Enables analytics such as bookings per show or per movie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90865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F106F-A3B2-443E-844C-D66D532F9754}"/>
              </a:ext>
            </a:extLst>
          </p:cNvPr>
          <p:cNvSpPr>
            <a:spLocks noGrp="1"/>
          </p:cNvSpPr>
          <p:nvPr>
            <p:ph type="title"/>
          </p:nvPr>
        </p:nvSpPr>
        <p:spPr>
          <a:xfrm>
            <a:off x="0" y="0"/>
            <a:ext cx="12192000" cy="650875"/>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dirty="0"/>
              <a:t>Entity-Relationship Diagram</a:t>
            </a:r>
          </a:p>
        </p:txBody>
      </p:sp>
      <p:pic>
        <p:nvPicPr>
          <p:cNvPr id="14" name="Content Placeholder 13">
            <a:extLst>
              <a:ext uri="{FF2B5EF4-FFF2-40B4-BE49-F238E27FC236}">
                <a16:creationId xmlns:a16="http://schemas.microsoft.com/office/drawing/2014/main" id="{84F544F2-1605-4444-9E96-D1014060AC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1300" y="650875"/>
            <a:ext cx="11709400" cy="6207125"/>
          </a:xfrm>
        </p:spPr>
      </p:pic>
    </p:spTree>
    <p:extLst>
      <p:ext uri="{BB962C8B-B14F-4D97-AF65-F5344CB8AC3E}">
        <p14:creationId xmlns:p14="http://schemas.microsoft.com/office/powerpoint/2010/main" val="450355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64B575E-9B25-46AF-B266-39C33BB9D945}"/>
              </a:ext>
            </a:extLst>
          </p:cNvPr>
          <p:cNvSpPr>
            <a:spLocks noGrp="1"/>
          </p:cNvSpPr>
          <p:nvPr>
            <p:ph type="title"/>
          </p:nvPr>
        </p:nvSpPr>
        <p:spPr>
          <a:xfrm>
            <a:off x="0" y="0"/>
            <a:ext cx="12192000" cy="650875"/>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dirty="0"/>
              <a:t>Relational Schema</a:t>
            </a:r>
          </a:p>
        </p:txBody>
      </p:sp>
      <p:pic>
        <p:nvPicPr>
          <p:cNvPr id="10" name="Content Placeholder 9">
            <a:extLst>
              <a:ext uri="{FF2B5EF4-FFF2-40B4-BE49-F238E27FC236}">
                <a16:creationId xmlns:a16="http://schemas.microsoft.com/office/drawing/2014/main" id="{F233E3BA-F83E-4829-92F9-FBE14AC7D4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4499" y="650875"/>
            <a:ext cx="11460243" cy="6016625"/>
          </a:xfrm>
        </p:spPr>
      </p:pic>
    </p:spTree>
    <p:extLst>
      <p:ext uri="{BB962C8B-B14F-4D97-AF65-F5344CB8AC3E}">
        <p14:creationId xmlns:p14="http://schemas.microsoft.com/office/powerpoint/2010/main" val="3619747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AC11DC-FBC8-4228-97C8-06A41F0B555C}"/>
              </a:ext>
            </a:extLst>
          </p:cNvPr>
          <p:cNvSpPr>
            <a:spLocks noGrp="1"/>
          </p:cNvSpPr>
          <p:nvPr>
            <p:ph idx="1"/>
          </p:nvPr>
        </p:nvSpPr>
        <p:spPr>
          <a:xfrm>
            <a:off x="0" y="650874"/>
            <a:ext cx="12192000" cy="6105525"/>
          </a:xfrm>
        </p:spPr>
        <p:txBody>
          <a:bodyPr>
            <a:normAutofit/>
          </a:bodyPr>
          <a:lstStyle/>
          <a:p>
            <a:pPr marL="514350" indent="-514350">
              <a:buFont typeface="+mj-lt"/>
              <a:buAutoNum type="arabicPeriod"/>
            </a:pPr>
            <a:r>
              <a:rPr lang="en-US" sz="1800" b="1" i="0" dirty="0">
                <a:solidFill>
                  <a:srgbClr val="000000"/>
                </a:solidFill>
                <a:effectLst/>
                <a:latin typeface="Lato" panose="020F0502020204030203" pitchFamily="34" charset="0"/>
              </a:rPr>
              <a:t>user(</a:t>
            </a:r>
            <a:r>
              <a:rPr lang="en-US" sz="1800" b="1" i="0" dirty="0" err="1">
                <a:solidFill>
                  <a:srgbClr val="000000"/>
                </a:solidFill>
                <a:effectLst/>
                <a:latin typeface="Lato" panose="020F0502020204030203" pitchFamily="34" charset="0"/>
              </a:rPr>
              <a:t>user_id</a:t>
            </a:r>
            <a:r>
              <a:rPr lang="en-US" sz="1800" b="1" i="0" dirty="0">
                <a:solidFill>
                  <a:srgbClr val="000000"/>
                </a:solidFill>
                <a:effectLst/>
                <a:latin typeface="Lato" panose="020F0502020204030203" pitchFamily="34" charset="0"/>
              </a:rPr>
              <a:t> INT, name VARCHAR(100), phone VARCHAR(30), email VARCHAR(150), password VARCHAR(255), </a:t>
            </a:r>
            <a:r>
              <a:rPr lang="en-US" sz="1800" b="1" i="0" dirty="0" err="1">
                <a:solidFill>
                  <a:srgbClr val="000000"/>
                </a:solidFill>
                <a:effectLst/>
                <a:latin typeface="Lato" panose="020F0502020204030203" pitchFamily="34" charset="0"/>
              </a:rPr>
              <a:t>is_approved</a:t>
            </a:r>
            <a:r>
              <a:rPr lang="en-US" sz="1800" b="1" i="0" dirty="0">
                <a:solidFill>
                  <a:srgbClr val="000000"/>
                </a:solidFill>
                <a:effectLst/>
                <a:latin typeface="Lato" panose="020F0502020204030203" pitchFamily="34" charset="0"/>
              </a:rPr>
              <a:t> TINYINT, PK(</a:t>
            </a:r>
            <a:r>
              <a:rPr lang="en-US" sz="1800" b="1" i="0" dirty="0" err="1">
                <a:solidFill>
                  <a:srgbClr val="000000"/>
                </a:solidFill>
                <a:effectLst/>
                <a:latin typeface="Lato" panose="020F0502020204030203" pitchFamily="34" charset="0"/>
              </a:rPr>
              <a:t>user_id</a:t>
            </a:r>
            <a:r>
              <a:rPr lang="en-US" sz="1800" b="1" i="0" dirty="0">
                <a:solidFill>
                  <a:srgbClr val="000000"/>
                </a:solidFill>
                <a:effectLst/>
                <a:latin typeface="Lato" panose="020F0502020204030203" pitchFamily="34" charset="0"/>
              </a:rPr>
              <a:t>), Unique(email))</a:t>
            </a:r>
          </a:p>
          <a:p>
            <a:pPr marL="514350" indent="-514350">
              <a:buFont typeface="+mj-lt"/>
              <a:buAutoNum type="arabicPeriod"/>
            </a:pPr>
            <a:r>
              <a:rPr lang="en-US" sz="1800" b="1" i="0" dirty="0">
                <a:solidFill>
                  <a:srgbClr val="000000"/>
                </a:solidFill>
                <a:effectLst/>
                <a:latin typeface="Lato" panose="020F0502020204030203" pitchFamily="34" charset="0"/>
              </a:rPr>
              <a:t>manager(</a:t>
            </a:r>
            <a:r>
              <a:rPr lang="en-US" sz="1800" b="1" i="0" dirty="0" err="1">
                <a:solidFill>
                  <a:srgbClr val="000000"/>
                </a:solidFill>
                <a:effectLst/>
                <a:latin typeface="Lato" panose="020F0502020204030203" pitchFamily="34" charset="0"/>
              </a:rPr>
              <a:t>manager_id</a:t>
            </a:r>
            <a:r>
              <a:rPr lang="en-US" sz="1800" b="1" i="0" dirty="0">
                <a:solidFill>
                  <a:srgbClr val="000000"/>
                </a:solidFill>
                <a:effectLst/>
                <a:latin typeface="Lato" panose="020F0502020204030203" pitchFamily="34" charset="0"/>
              </a:rPr>
              <a:t> INT, name VARCHAR(100), email VARCHAR(150), password VARCHAR(255), PK(</a:t>
            </a:r>
            <a:r>
              <a:rPr lang="en-US" sz="1800" b="1" i="0" dirty="0" err="1">
                <a:solidFill>
                  <a:srgbClr val="000000"/>
                </a:solidFill>
                <a:effectLst/>
                <a:latin typeface="Lato" panose="020F0502020204030203" pitchFamily="34" charset="0"/>
              </a:rPr>
              <a:t>manager_id</a:t>
            </a:r>
            <a:r>
              <a:rPr lang="en-US" sz="1800" b="1" i="0" dirty="0">
                <a:solidFill>
                  <a:srgbClr val="000000"/>
                </a:solidFill>
                <a:effectLst/>
                <a:latin typeface="Lato" panose="020F0502020204030203" pitchFamily="34" charset="0"/>
              </a:rPr>
              <a:t>), Unique(email))</a:t>
            </a:r>
            <a:br>
              <a:rPr lang="en-US" sz="1800" b="1" i="0" dirty="0">
                <a:solidFill>
                  <a:srgbClr val="000000"/>
                </a:solidFill>
                <a:effectLst/>
                <a:latin typeface="Lato" panose="020F0502020204030203" pitchFamily="34" charset="0"/>
              </a:rPr>
            </a:br>
            <a:endParaRPr lang="en-US" sz="1800" b="1" i="0" dirty="0">
              <a:solidFill>
                <a:srgbClr val="000000"/>
              </a:solidFill>
              <a:effectLst/>
              <a:latin typeface="Lato" panose="020F0502020204030203" pitchFamily="34" charset="0"/>
            </a:endParaRPr>
          </a:p>
          <a:p>
            <a:pPr marL="514350" indent="-514350">
              <a:buFont typeface="+mj-lt"/>
              <a:buAutoNum type="arabicPeriod"/>
            </a:pPr>
            <a:r>
              <a:rPr lang="en-US" sz="1800" b="1" i="0" dirty="0">
                <a:solidFill>
                  <a:srgbClr val="000000"/>
                </a:solidFill>
                <a:effectLst/>
                <a:latin typeface="Lato" panose="020F0502020204030203" pitchFamily="34" charset="0"/>
              </a:rPr>
              <a:t>theater(</a:t>
            </a:r>
            <a:r>
              <a:rPr lang="en-US" sz="1800" b="1" i="0" dirty="0" err="1">
                <a:solidFill>
                  <a:srgbClr val="000000"/>
                </a:solidFill>
                <a:effectLst/>
                <a:latin typeface="Lato" panose="020F0502020204030203" pitchFamily="34" charset="0"/>
              </a:rPr>
              <a:t>theater_id</a:t>
            </a:r>
            <a:r>
              <a:rPr lang="en-US" sz="1800" b="1" i="0" dirty="0">
                <a:solidFill>
                  <a:srgbClr val="000000"/>
                </a:solidFill>
                <a:effectLst/>
                <a:latin typeface="Lato" panose="020F0502020204030203" pitchFamily="34" charset="0"/>
              </a:rPr>
              <a:t> INT, </a:t>
            </a:r>
            <a:r>
              <a:rPr lang="en-US" sz="1800" b="1" i="0" dirty="0" err="1">
                <a:solidFill>
                  <a:srgbClr val="000000"/>
                </a:solidFill>
                <a:effectLst/>
                <a:latin typeface="Lato" panose="020F0502020204030203" pitchFamily="34" charset="0"/>
              </a:rPr>
              <a:t>theater_number</a:t>
            </a:r>
            <a:r>
              <a:rPr lang="en-US" sz="1800" b="1" i="0" dirty="0">
                <a:solidFill>
                  <a:srgbClr val="000000"/>
                </a:solidFill>
                <a:effectLst/>
                <a:latin typeface="Lato" panose="020F0502020204030203" pitchFamily="34" charset="0"/>
              </a:rPr>
              <a:t> VARCHAR(50), location VARCHAR(255), PK(</a:t>
            </a:r>
            <a:r>
              <a:rPr lang="en-US" sz="1800" b="1" i="0" dirty="0" err="1">
                <a:solidFill>
                  <a:srgbClr val="000000"/>
                </a:solidFill>
                <a:effectLst/>
                <a:latin typeface="Lato" panose="020F0502020204030203" pitchFamily="34" charset="0"/>
              </a:rPr>
              <a:t>theater_id</a:t>
            </a:r>
            <a:r>
              <a:rPr lang="en-US" sz="1800" b="1" i="0" dirty="0">
                <a:solidFill>
                  <a:srgbClr val="000000"/>
                </a:solidFill>
                <a:effectLst/>
                <a:latin typeface="Lato" panose="020F0502020204030203" pitchFamily="34" charset="0"/>
              </a:rPr>
              <a:t>))</a:t>
            </a:r>
            <a:br>
              <a:rPr lang="en-US" sz="1800" b="1" i="0" dirty="0">
                <a:solidFill>
                  <a:srgbClr val="000000"/>
                </a:solidFill>
                <a:effectLst/>
                <a:latin typeface="Lato" panose="020F0502020204030203" pitchFamily="34" charset="0"/>
              </a:rPr>
            </a:br>
            <a:endParaRPr lang="en-US" sz="1800" b="1" i="0" dirty="0">
              <a:solidFill>
                <a:srgbClr val="000000"/>
              </a:solidFill>
              <a:effectLst/>
              <a:latin typeface="Lato" panose="020F0502020204030203" pitchFamily="34" charset="0"/>
            </a:endParaRPr>
          </a:p>
          <a:p>
            <a:pPr marL="514350" indent="-514350">
              <a:buFont typeface="+mj-lt"/>
              <a:buAutoNum type="arabicPeriod"/>
            </a:pPr>
            <a:r>
              <a:rPr lang="en-US" sz="1800" b="1" i="0" dirty="0">
                <a:solidFill>
                  <a:srgbClr val="000000"/>
                </a:solidFill>
                <a:effectLst/>
                <a:latin typeface="Lato" panose="020F0502020204030203" pitchFamily="34" charset="0"/>
              </a:rPr>
              <a:t>movie(</a:t>
            </a:r>
            <a:r>
              <a:rPr lang="en-US" sz="1800" b="1" i="0" dirty="0" err="1">
                <a:solidFill>
                  <a:srgbClr val="000000"/>
                </a:solidFill>
                <a:effectLst/>
                <a:latin typeface="Lato" panose="020F0502020204030203" pitchFamily="34" charset="0"/>
              </a:rPr>
              <a:t>movie_id</a:t>
            </a:r>
            <a:r>
              <a:rPr lang="en-US" sz="1800" b="1" i="0" dirty="0">
                <a:solidFill>
                  <a:srgbClr val="000000"/>
                </a:solidFill>
                <a:effectLst/>
                <a:latin typeface="Lato" panose="020F0502020204030203" pitchFamily="34" charset="0"/>
              </a:rPr>
              <a:t> INT, title VARCHAR(255), showtime DATETIME, </a:t>
            </a:r>
            <a:r>
              <a:rPr lang="en-US" sz="1800" b="1" i="0" dirty="0" err="1">
                <a:solidFill>
                  <a:srgbClr val="000000"/>
                </a:solidFill>
                <a:effectLst/>
                <a:latin typeface="Lato" panose="020F0502020204030203" pitchFamily="34" charset="0"/>
              </a:rPr>
              <a:t>release_date</a:t>
            </a:r>
            <a:r>
              <a:rPr lang="en-US" sz="1800" b="1" i="0" dirty="0">
                <a:solidFill>
                  <a:srgbClr val="000000"/>
                </a:solidFill>
                <a:effectLst/>
                <a:latin typeface="Lato" panose="020F0502020204030203" pitchFamily="34" charset="0"/>
              </a:rPr>
              <a:t> DATE, </a:t>
            </a:r>
            <a:r>
              <a:rPr lang="en-US" sz="1800" b="1" i="0" dirty="0" err="1">
                <a:solidFill>
                  <a:srgbClr val="000000"/>
                </a:solidFill>
                <a:effectLst/>
                <a:latin typeface="Lato" panose="020F0502020204030203" pitchFamily="34" charset="0"/>
              </a:rPr>
              <a:t>price_per_seat</a:t>
            </a:r>
            <a:r>
              <a:rPr lang="en-US" sz="1800" b="1" i="0" dirty="0">
                <a:solidFill>
                  <a:srgbClr val="000000"/>
                </a:solidFill>
                <a:effectLst/>
                <a:latin typeface="Lato" panose="020F0502020204030203" pitchFamily="34" charset="0"/>
              </a:rPr>
              <a:t> DECIMAL(8,2), </a:t>
            </a:r>
            <a:r>
              <a:rPr lang="en-US" sz="1800" b="1" i="0" dirty="0" err="1">
                <a:solidFill>
                  <a:srgbClr val="000000"/>
                </a:solidFill>
                <a:effectLst/>
                <a:latin typeface="Lato" panose="020F0502020204030203" pitchFamily="34" charset="0"/>
              </a:rPr>
              <a:t>total_seats</a:t>
            </a:r>
            <a:r>
              <a:rPr lang="en-US" sz="1800" b="1" i="0" dirty="0">
                <a:solidFill>
                  <a:srgbClr val="000000"/>
                </a:solidFill>
                <a:effectLst/>
                <a:latin typeface="Lato" panose="020F0502020204030203" pitchFamily="34" charset="0"/>
              </a:rPr>
              <a:t> INT, </a:t>
            </a:r>
            <a:r>
              <a:rPr lang="en-US" sz="1800" b="1" i="0" dirty="0" err="1">
                <a:solidFill>
                  <a:srgbClr val="000000"/>
                </a:solidFill>
                <a:effectLst/>
                <a:latin typeface="Lato" panose="020F0502020204030203" pitchFamily="34" charset="0"/>
              </a:rPr>
              <a:t>theater_id</a:t>
            </a:r>
            <a:r>
              <a:rPr lang="en-US" sz="1800" b="1" i="0" dirty="0">
                <a:solidFill>
                  <a:srgbClr val="000000"/>
                </a:solidFill>
                <a:effectLst/>
                <a:latin typeface="Lato" panose="020F0502020204030203" pitchFamily="34" charset="0"/>
              </a:rPr>
              <a:t> INT, genre VARCHAR(100), duration VARCHAR(50), PK(</a:t>
            </a:r>
            <a:r>
              <a:rPr lang="en-US" sz="1800" b="1" i="0" dirty="0" err="1">
                <a:solidFill>
                  <a:srgbClr val="000000"/>
                </a:solidFill>
                <a:effectLst/>
                <a:latin typeface="Lato" panose="020F0502020204030203" pitchFamily="34" charset="0"/>
              </a:rPr>
              <a:t>movie_id</a:t>
            </a:r>
            <a:r>
              <a:rPr lang="en-US" sz="1800" b="1" i="0" dirty="0">
                <a:solidFill>
                  <a:srgbClr val="000000"/>
                </a:solidFill>
                <a:effectLst/>
                <a:latin typeface="Lato" panose="020F0502020204030203" pitchFamily="34" charset="0"/>
              </a:rPr>
              <a:t>), FK(</a:t>
            </a:r>
            <a:r>
              <a:rPr lang="en-US" sz="1800" b="1" i="0" dirty="0" err="1">
                <a:solidFill>
                  <a:srgbClr val="000000"/>
                </a:solidFill>
                <a:effectLst/>
                <a:latin typeface="Lato" panose="020F0502020204030203" pitchFamily="34" charset="0"/>
              </a:rPr>
              <a:t>theater_id</a:t>
            </a:r>
            <a:r>
              <a:rPr lang="en-US" sz="1800" b="1" i="0" dirty="0">
                <a:solidFill>
                  <a:srgbClr val="000000"/>
                </a:solidFill>
                <a:effectLst/>
                <a:latin typeface="Lato" panose="020F0502020204030203" pitchFamily="34" charset="0"/>
              </a:rPr>
              <a:t>) → Theater(</a:t>
            </a:r>
            <a:r>
              <a:rPr lang="en-US" sz="1800" b="1" i="0" dirty="0" err="1">
                <a:solidFill>
                  <a:srgbClr val="000000"/>
                </a:solidFill>
                <a:effectLst/>
                <a:latin typeface="Lato" panose="020F0502020204030203" pitchFamily="34" charset="0"/>
              </a:rPr>
              <a:t>theater_id</a:t>
            </a:r>
            <a:r>
              <a:rPr lang="en-US" sz="1800" b="1" i="0" dirty="0">
                <a:solidFill>
                  <a:srgbClr val="000000"/>
                </a:solidFill>
                <a:effectLst/>
                <a:latin typeface="Lato" panose="020F0502020204030203" pitchFamily="34" charset="0"/>
              </a:rPr>
              <a:t>))</a:t>
            </a:r>
          </a:p>
          <a:p>
            <a:pPr marL="514350" indent="-514350">
              <a:buFont typeface="+mj-lt"/>
              <a:buAutoNum type="arabicPeriod"/>
            </a:pPr>
            <a:r>
              <a:rPr lang="en-US" sz="1800" b="1" i="0" dirty="0">
                <a:solidFill>
                  <a:srgbClr val="000000"/>
                </a:solidFill>
                <a:effectLst/>
                <a:latin typeface="Lato" panose="020F0502020204030203" pitchFamily="34" charset="0"/>
              </a:rPr>
              <a:t>booking(</a:t>
            </a:r>
            <a:r>
              <a:rPr lang="en-US" sz="1800" b="1" i="0" dirty="0" err="1">
                <a:solidFill>
                  <a:srgbClr val="000000"/>
                </a:solidFill>
                <a:effectLst/>
                <a:latin typeface="Lato" panose="020F0502020204030203" pitchFamily="34" charset="0"/>
              </a:rPr>
              <a:t>booking_id</a:t>
            </a:r>
            <a:r>
              <a:rPr lang="en-US" sz="1800" b="1" i="0" dirty="0">
                <a:solidFill>
                  <a:srgbClr val="000000"/>
                </a:solidFill>
                <a:effectLst/>
                <a:latin typeface="Lato" panose="020F0502020204030203" pitchFamily="34" charset="0"/>
              </a:rPr>
              <a:t> INT, </a:t>
            </a:r>
            <a:r>
              <a:rPr lang="en-US" sz="1800" b="1" i="0" dirty="0" err="1">
                <a:solidFill>
                  <a:srgbClr val="000000"/>
                </a:solidFill>
                <a:effectLst/>
                <a:latin typeface="Lato" panose="020F0502020204030203" pitchFamily="34" charset="0"/>
              </a:rPr>
              <a:t>user_id</a:t>
            </a:r>
            <a:r>
              <a:rPr lang="en-US" sz="1800" b="1" i="0" dirty="0">
                <a:solidFill>
                  <a:srgbClr val="000000"/>
                </a:solidFill>
                <a:effectLst/>
                <a:latin typeface="Lato" panose="020F0502020204030203" pitchFamily="34" charset="0"/>
              </a:rPr>
              <a:t> INT, </a:t>
            </a:r>
            <a:r>
              <a:rPr lang="en-US" sz="1800" b="1" i="0" dirty="0" err="1">
                <a:solidFill>
                  <a:srgbClr val="000000"/>
                </a:solidFill>
                <a:effectLst/>
                <a:latin typeface="Lato" panose="020F0502020204030203" pitchFamily="34" charset="0"/>
              </a:rPr>
              <a:t>movie_id</a:t>
            </a:r>
            <a:r>
              <a:rPr lang="en-US" sz="1800" b="1" i="0" dirty="0">
                <a:solidFill>
                  <a:srgbClr val="000000"/>
                </a:solidFill>
                <a:effectLst/>
                <a:latin typeface="Lato" panose="020F0502020204030203" pitchFamily="34" charset="0"/>
              </a:rPr>
              <a:t> INT, </a:t>
            </a:r>
            <a:r>
              <a:rPr lang="en-US" sz="1800" b="1" i="0" dirty="0" err="1">
                <a:solidFill>
                  <a:srgbClr val="000000"/>
                </a:solidFill>
                <a:effectLst/>
                <a:latin typeface="Lato" panose="020F0502020204030203" pitchFamily="34" charset="0"/>
              </a:rPr>
              <a:t>seats_booked</a:t>
            </a:r>
            <a:r>
              <a:rPr lang="en-US" sz="1800" b="1" i="0" dirty="0">
                <a:solidFill>
                  <a:srgbClr val="000000"/>
                </a:solidFill>
                <a:effectLst/>
                <a:latin typeface="Lato" panose="020F0502020204030203" pitchFamily="34" charset="0"/>
              </a:rPr>
              <a:t> INT, </a:t>
            </a:r>
            <a:r>
              <a:rPr lang="en-US" sz="1800" b="1" i="0" dirty="0" err="1">
                <a:solidFill>
                  <a:srgbClr val="000000"/>
                </a:solidFill>
                <a:effectLst/>
                <a:latin typeface="Lato" panose="020F0502020204030203" pitchFamily="34" charset="0"/>
              </a:rPr>
              <a:t>booking_date</a:t>
            </a:r>
            <a:r>
              <a:rPr lang="en-US" sz="1800" b="1" i="0" dirty="0">
                <a:solidFill>
                  <a:srgbClr val="000000"/>
                </a:solidFill>
                <a:effectLst/>
                <a:latin typeface="Lato" panose="020F0502020204030203" pitchFamily="34" charset="0"/>
              </a:rPr>
              <a:t> DATETIME, PK(</a:t>
            </a:r>
            <a:r>
              <a:rPr lang="en-US" sz="1800" b="1" i="0" dirty="0" err="1">
                <a:solidFill>
                  <a:srgbClr val="000000"/>
                </a:solidFill>
                <a:effectLst/>
                <a:latin typeface="Lato" panose="020F0502020204030203" pitchFamily="34" charset="0"/>
              </a:rPr>
              <a:t>booking_id</a:t>
            </a:r>
            <a:r>
              <a:rPr lang="en-US" sz="1800" b="1" i="0" dirty="0">
                <a:solidFill>
                  <a:srgbClr val="000000"/>
                </a:solidFill>
                <a:effectLst/>
                <a:latin typeface="Lato" panose="020F0502020204030203" pitchFamily="34" charset="0"/>
              </a:rPr>
              <a:t>), FK(</a:t>
            </a:r>
            <a:r>
              <a:rPr lang="en-US" sz="1800" b="1" i="0" dirty="0" err="1">
                <a:solidFill>
                  <a:srgbClr val="000000"/>
                </a:solidFill>
                <a:effectLst/>
                <a:latin typeface="Lato" panose="020F0502020204030203" pitchFamily="34" charset="0"/>
              </a:rPr>
              <a:t>user_id</a:t>
            </a:r>
            <a:r>
              <a:rPr lang="en-US" sz="1800" b="1" i="0" dirty="0">
                <a:solidFill>
                  <a:srgbClr val="000000"/>
                </a:solidFill>
                <a:effectLst/>
                <a:latin typeface="Lato" panose="020F0502020204030203" pitchFamily="34" charset="0"/>
              </a:rPr>
              <a:t>) → User(</a:t>
            </a:r>
            <a:r>
              <a:rPr lang="en-US" sz="1800" b="1" i="0" dirty="0" err="1">
                <a:solidFill>
                  <a:srgbClr val="000000"/>
                </a:solidFill>
                <a:effectLst/>
                <a:latin typeface="Lato" panose="020F0502020204030203" pitchFamily="34" charset="0"/>
              </a:rPr>
              <a:t>user_id</a:t>
            </a:r>
            <a:r>
              <a:rPr lang="en-US" sz="1800" b="1" i="0" dirty="0">
                <a:solidFill>
                  <a:srgbClr val="000000"/>
                </a:solidFill>
                <a:effectLst/>
                <a:latin typeface="Lato" panose="020F0502020204030203" pitchFamily="34" charset="0"/>
              </a:rPr>
              <a:t>), FK(</a:t>
            </a:r>
            <a:r>
              <a:rPr lang="en-US" sz="1800" b="1" i="0" dirty="0" err="1">
                <a:solidFill>
                  <a:srgbClr val="000000"/>
                </a:solidFill>
                <a:effectLst/>
                <a:latin typeface="Lato" panose="020F0502020204030203" pitchFamily="34" charset="0"/>
              </a:rPr>
              <a:t>movie_id</a:t>
            </a:r>
            <a:r>
              <a:rPr lang="en-US" sz="1800" b="1" i="0" dirty="0">
                <a:solidFill>
                  <a:srgbClr val="000000"/>
                </a:solidFill>
                <a:effectLst/>
                <a:latin typeface="Lato" panose="020F0502020204030203" pitchFamily="34" charset="0"/>
              </a:rPr>
              <a:t>) → Movie(</a:t>
            </a:r>
            <a:r>
              <a:rPr lang="en-US" sz="1800" b="1" i="0" dirty="0" err="1">
                <a:solidFill>
                  <a:srgbClr val="000000"/>
                </a:solidFill>
                <a:effectLst/>
                <a:latin typeface="Lato" panose="020F0502020204030203" pitchFamily="34" charset="0"/>
              </a:rPr>
              <a:t>movie_id</a:t>
            </a:r>
            <a:r>
              <a:rPr lang="en-US" sz="1800" b="1" i="0" dirty="0">
                <a:solidFill>
                  <a:srgbClr val="000000"/>
                </a:solidFill>
                <a:effectLst/>
                <a:latin typeface="Lato" panose="020F0502020204030203" pitchFamily="34" charset="0"/>
              </a:rPr>
              <a:t>))</a:t>
            </a:r>
            <a:br>
              <a:rPr lang="en-US" sz="1800" b="1" i="0" dirty="0">
                <a:solidFill>
                  <a:srgbClr val="000000"/>
                </a:solidFill>
                <a:effectLst/>
                <a:latin typeface="Lato" panose="020F0502020204030203" pitchFamily="34" charset="0"/>
              </a:rPr>
            </a:br>
            <a:endParaRPr lang="en-US" sz="1800" b="1" i="0" dirty="0">
              <a:solidFill>
                <a:srgbClr val="000000"/>
              </a:solidFill>
              <a:effectLst/>
              <a:latin typeface="Lato" panose="020F0502020204030203" pitchFamily="34" charset="0"/>
            </a:endParaRPr>
          </a:p>
          <a:p>
            <a:pPr marL="514350" indent="-514350">
              <a:buFont typeface="+mj-lt"/>
              <a:buAutoNum type="arabicPeriod"/>
            </a:pPr>
            <a:r>
              <a:rPr lang="en-US" sz="1800" b="1" i="0" dirty="0">
                <a:solidFill>
                  <a:srgbClr val="000000"/>
                </a:solidFill>
                <a:effectLst/>
                <a:latin typeface="Lato" panose="020F0502020204030203" pitchFamily="34" charset="0"/>
              </a:rPr>
              <a:t>score(</a:t>
            </a:r>
            <a:r>
              <a:rPr lang="en-US" sz="1800" b="1" i="0" dirty="0" err="1">
                <a:solidFill>
                  <a:srgbClr val="000000"/>
                </a:solidFill>
                <a:effectLst/>
                <a:latin typeface="Lato" panose="020F0502020204030203" pitchFamily="34" charset="0"/>
              </a:rPr>
              <a:t>score_id</a:t>
            </a:r>
            <a:r>
              <a:rPr lang="en-US" sz="1800" b="1" i="0" dirty="0">
                <a:solidFill>
                  <a:srgbClr val="000000"/>
                </a:solidFill>
                <a:effectLst/>
                <a:latin typeface="Lato" panose="020F0502020204030203" pitchFamily="34" charset="0"/>
              </a:rPr>
              <a:t> INT, </a:t>
            </a:r>
            <a:r>
              <a:rPr lang="en-US" sz="1800" b="1" i="0" dirty="0" err="1">
                <a:solidFill>
                  <a:srgbClr val="000000"/>
                </a:solidFill>
                <a:effectLst/>
                <a:latin typeface="Lato" panose="020F0502020204030203" pitchFamily="34" charset="0"/>
              </a:rPr>
              <a:t>user_id</a:t>
            </a:r>
            <a:r>
              <a:rPr lang="en-US" sz="1800" b="1" i="0" dirty="0">
                <a:solidFill>
                  <a:srgbClr val="000000"/>
                </a:solidFill>
                <a:effectLst/>
                <a:latin typeface="Lato" panose="020F0502020204030203" pitchFamily="34" charset="0"/>
              </a:rPr>
              <a:t> INT, </a:t>
            </a:r>
            <a:r>
              <a:rPr lang="en-US" sz="1800" b="1" i="0" dirty="0" err="1">
                <a:solidFill>
                  <a:srgbClr val="000000"/>
                </a:solidFill>
                <a:effectLst/>
                <a:latin typeface="Lato" panose="020F0502020204030203" pitchFamily="34" charset="0"/>
              </a:rPr>
              <a:t>movie_id</a:t>
            </a:r>
            <a:r>
              <a:rPr lang="en-US" sz="1800" b="1" i="0" dirty="0">
                <a:solidFill>
                  <a:srgbClr val="000000"/>
                </a:solidFill>
                <a:effectLst/>
                <a:latin typeface="Lato" panose="020F0502020204030203" pitchFamily="34" charset="0"/>
              </a:rPr>
              <a:t> INT, score INT, </a:t>
            </a:r>
            <a:r>
              <a:rPr lang="en-US" sz="1800" b="1" i="0" dirty="0" err="1">
                <a:solidFill>
                  <a:srgbClr val="000000"/>
                </a:solidFill>
                <a:effectLst/>
                <a:latin typeface="Lato" panose="020F0502020204030203" pitchFamily="34" charset="0"/>
              </a:rPr>
              <a:t>score_date</a:t>
            </a:r>
            <a:r>
              <a:rPr lang="en-US" sz="1800" b="1" i="0" dirty="0">
                <a:solidFill>
                  <a:srgbClr val="000000"/>
                </a:solidFill>
                <a:effectLst/>
                <a:latin typeface="Lato" panose="020F0502020204030203" pitchFamily="34" charset="0"/>
              </a:rPr>
              <a:t> DATETIME, PK(</a:t>
            </a:r>
            <a:r>
              <a:rPr lang="en-US" sz="1800" b="1" i="0" dirty="0" err="1">
                <a:solidFill>
                  <a:srgbClr val="000000"/>
                </a:solidFill>
                <a:effectLst/>
                <a:latin typeface="Lato" panose="020F0502020204030203" pitchFamily="34" charset="0"/>
              </a:rPr>
              <a:t>score_id</a:t>
            </a:r>
            <a:r>
              <a:rPr lang="en-US" sz="1800" b="1" i="0" dirty="0">
                <a:solidFill>
                  <a:srgbClr val="000000"/>
                </a:solidFill>
                <a:effectLst/>
                <a:latin typeface="Lato" panose="020F0502020204030203" pitchFamily="34" charset="0"/>
              </a:rPr>
              <a:t>), FK(</a:t>
            </a:r>
            <a:r>
              <a:rPr lang="en-US" sz="1800" b="1" i="0" dirty="0" err="1">
                <a:solidFill>
                  <a:srgbClr val="000000"/>
                </a:solidFill>
                <a:effectLst/>
                <a:latin typeface="Lato" panose="020F0502020204030203" pitchFamily="34" charset="0"/>
              </a:rPr>
              <a:t>user_id</a:t>
            </a:r>
            <a:r>
              <a:rPr lang="en-US" sz="1800" b="1" i="0" dirty="0">
                <a:solidFill>
                  <a:srgbClr val="000000"/>
                </a:solidFill>
                <a:effectLst/>
                <a:latin typeface="Lato" panose="020F0502020204030203" pitchFamily="34" charset="0"/>
              </a:rPr>
              <a:t>) → User(</a:t>
            </a:r>
            <a:r>
              <a:rPr lang="en-US" sz="1800" b="1" i="0" dirty="0" err="1">
                <a:solidFill>
                  <a:srgbClr val="000000"/>
                </a:solidFill>
                <a:effectLst/>
                <a:latin typeface="Lato" panose="020F0502020204030203" pitchFamily="34" charset="0"/>
              </a:rPr>
              <a:t>user_id</a:t>
            </a:r>
            <a:r>
              <a:rPr lang="en-US" sz="1800" b="1" i="0" dirty="0">
                <a:solidFill>
                  <a:srgbClr val="000000"/>
                </a:solidFill>
                <a:effectLst/>
                <a:latin typeface="Lato" panose="020F0502020204030203" pitchFamily="34" charset="0"/>
              </a:rPr>
              <a:t>), FK(</a:t>
            </a:r>
            <a:r>
              <a:rPr lang="en-US" sz="1800" b="1" i="0" dirty="0" err="1">
                <a:solidFill>
                  <a:srgbClr val="000000"/>
                </a:solidFill>
                <a:effectLst/>
                <a:latin typeface="Lato" panose="020F0502020204030203" pitchFamily="34" charset="0"/>
              </a:rPr>
              <a:t>movie_id</a:t>
            </a:r>
            <a:r>
              <a:rPr lang="en-US" sz="1800" b="1" i="0" dirty="0">
                <a:solidFill>
                  <a:srgbClr val="000000"/>
                </a:solidFill>
                <a:effectLst/>
                <a:latin typeface="Lato" panose="020F0502020204030203" pitchFamily="34" charset="0"/>
              </a:rPr>
              <a:t>) → Movie(</a:t>
            </a:r>
            <a:r>
              <a:rPr lang="en-US" sz="1800" b="1" i="0" dirty="0" err="1">
                <a:solidFill>
                  <a:srgbClr val="000000"/>
                </a:solidFill>
                <a:effectLst/>
                <a:latin typeface="Lato" panose="020F0502020204030203" pitchFamily="34" charset="0"/>
              </a:rPr>
              <a:t>movie_id</a:t>
            </a:r>
            <a:r>
              <a:rPr lang="en-US" sz="1800" b="1" i="0" dirty="0">
                <a:solidFill>
                  <a:srgbClr val="000000"/>
                </a:solidFill>
                <a:effectLst/>
                <a:latin typeface="Lato" panose="020F0502020204030203" pitchFamily="34" charset="0"/>
              </a:rPr>
              <a:t>), Unique(</a:t>
            </a:r>
            <a:r>
              <a:rPr lang="en-US" sz="1800" b="1" i="0" dirty="0" err="1">
                <a:solidFill>
                  <a:srgbClr val="000000"/>
                </a:solidFill>
                <a:effectLst/>
                <a:latin typeface="Lato" panose="020F0502020204030203" pitchFamily="34" charset="0"/>
              </a:rPr>
              <a:t>user_id</a:t>
            </a:r>
            <a:r>
              <a:rPr lang="en-US" sz="1800" b="1" i="0" dirty="0">
                <a:solidFill>
                  <a:srgbClr val="000000"/>
                </a:solidFill>
                <a:effectLst/>
                <a:latin typeface="Lato" panose="020F0502020204030203" pitchFamily="34" charset="0"/>
              </a:rPr>
              <a:t>, </a:t>
            </a:r>
            <a:r>
              <a:rPr lang="en-US" sz="1800" b="1" i="0" dirty="0" err="1">
                <a:solidFill>
                  <a:srgbClr val="000000"/>
                </a:solidFill>
                <a:effectLst/>
                <a:latin typeface="Lato" panose="020F0502020204030203" pitchFamily="34" charset="0"/>
              </a:rPr>
              <a:t>movie_id</a:t>
            </a:r>
            <a:r>
              <a:rPr lang="en-US" sz="1800" b="1" i="0" dirty="0">
                <a:solidFill>
                  <a:srgbClr val="000000"/>
                </a:solidFill>
                <a:effectLst/>
                <a:latin typeface="Lato" panose="020F0502020204030203" pitchFamily="34" charset="0"/>
              </a:rPr>
              <a:t>))</a:t>
            </a:r>
            <a:br>
              <a:rPr lang="en-US" sz="1800" b="1" i="0" dirty="0">
                <a:solidFill>
                  <a:srgbClr val="000000"/>
                </a:solidFill>
                <a:effectLst/>
                <a:latin typeface="Lato" panose="020F0502020204030203" pitchFamily="34" charset="0"/>
              </a:rPr>
            </a:br>
            <a:br>
              <a:rPr lang="en-US" sz="1800" b="1" i="0" dirty="0">
                <a:solidFill>
                  <a:srgbClr val="000000"/>
                </a:solidFill>
                <a:effectLst/>
                <a:latin typeface="Lato" panose="020F0502020204030203" pitchFamily="34" charset="0"/>
              </a:rPr>
            </a:br>
            <a:endParaRPr lang="en-US" sz="1800" b="1" i="0" dirty="0">
              <a:solidFill>
                <a:srgbClr val="000000"/>
              </a:solidFill>
              <a:effectLst/>
              <a:latin typeface="Lato" panose="020F0502020204030203" pitchFamily="34" charset="0"/>
            </a:endParaRPr>
          </a:p>
          <a:p>
            <a:pPr marL="514350" indent="-514350">
              <a:buFont typeface="+mj-lt"/>
              <a:buAutoNum type="arabicPeriod"/>
            </a:pPr>
            <a:r>
              <a:rPr lang="en-US" sz="1800" b="1" i="0" dirty="0" err="1">
                <a:solidFill>
                  <a:srgbClr val="000000"/>
                </a:solidFill>
                <a:effectLst/>
                <a:latin typeface="Lato" panose="020F0502020204030203" pitchFamily="34" charset="0"/>
              </a:rPr>
              <a:t>pending_registration</a:t>
            </a:r>
            <a:r>
              <a:rPr lang="en-US" sz="1800" b="1" i="0" dirty="0">
                <a:solidFill>
                  <a:srgbClr val="000000"/>
                </a:solidFill>
                <a:effectLst/>
                <a:latin typeface="Lato" panose="020F0502020204030203" pitchFamily="34" charset="0"/>
              </a:rPr>
              <a:t>(</a:t>
            </a:r>
            <a:r>
              <a:rPr lang="en-US" sz="1800" b="1" i="0" dirty="0" err="1">
                <a:solidFill>
                  <a:srgbClr val="000000"/>
                </a:solidFill>
                <a:effectLst/>
                <a:latin typeface="Lato" panose="020F0502020204030203" pitchFamily="34" charset="0"/>
              </a:rPr>
              <a:t>pending_id</a:t>
            </a:r>
            <a:r>
              <a:rPr lang="en-US" sz="1800" b="1" i="0" dirty="0">
                <a:solidFill>
                  <a:srgbClr val="000000"/>
                </a:solidFill>
                <a:effectLst/>
                <a:latin typeface="Lato" panose="020F0502020204030203" pitchFamily="34" charset="0"/>
              </a:rPr>
              <a:t> INT, name VARCHAR(100), phone VARCHAR(30), email VARCHAR(150), password VARCHAR(255), </a:t>
            </a:r>
            <a:r>
              <a:rPr lang="en-US" sz="1800" b="1" i="0" dirty="0" err="1">
                <a:solidFill>
                  <a:srgbClr val="000000"/>
                </a:solidFill>
                <a:effectLst/>
                <a:latin typeface="Lato" panose="020F0502020204030203" pitchFamily="34" charset="0"/>
              </a:rPr>
              <a:t>reg_date</a:t>
            </a:r>
            <a:r>
              <a:rPr lang="en-US" sz="1800" b="1" i="0" dirty="0">
                <a:solidFill>
                  <a:srgbClr val="000000"/>
                </a:solidFill>
                <a:effectLst/>
                <a:latin typeface="Lato" panose="020F0502020204030203" pitchFamily="34" charset="0"/>
              </a:rPr>
              <a:t> DATETIME, PK(</a:t>
            </a:r>
            <a:r>
              <a:rPr lang="en-US" sz="1800" b="1" i="0" dirty="0" err="1">
                <a:solidFill>
                  <a:srgbClr val="000000"/>
                </a:solidFill>
                <a:effectLst/>
                <a:latin typeface="Lato" panose="020F0502020204030203" pitchFamily="34" charset="0"/>
              </a:rPr>
              <a:t>pending_id</a:t>
            </a:r>
            <a:r>
              <a:rPr lang="en-US" sz="1800" b="1" i="0" dirty="0">
                <a:solidFill>
                  <a:srgbClr val="000000"/>
                </a:solidFill>
                <a:effectLst/>
                <a:latin typeface="Lato" panose="020F0502020204030203" pitchFamily="34" charset="0"/>
              </a:rPr>
              <a:t>))</a:t>
            </a:r>
          </a:p>
          <a:p>
            <a:pPr marL="514350" indent="-514350">
              <a:buFont typeface="+mj-lt"/>
              <a:buAutoNum type="arabicPeriod"/>
            </a:pPr>
            <a:endParaRPr lang="en-US" sz="1800" dirty="0"/>
          </a:p>
        </p:txBody>
      </p:sp>
      <p:sp>
        <p:nvSpPr>
          <p:cNvPr id="4" name="Title 1">
            <a:extLst>
              <a:ext uri="{FF2B5EF4-FFF2-40B4-BE49-F238E27FC236}">
                <a16:creationId xmlns:a16="http://schemas.microsoft.com/office/drawing/2014/main" id="{CBB99C18-C695-4920-AD94-FB12C3C9C971}"/>
              </a:ext>
            </a:extLst>
          </p:cNvPr>
          <p:cNvSpPr>
            <a:spLocks noGrp="1"/>
          </p:cNvSpPr>
          <p:nvPr>
            <p:ph type="title"/>
          </p:nvPr>
        </p:nvSpPr>
        <p:spPr>
          <a:xfrm>
            <a:off x="0" y="0"/>
            <a:ext cx="12192000" cy="650875"/>
          </a:xfrm>
        </p:spPr>
        <p:style>
          <a:lnRef idx="2">
            <a:schemeClr val="accent1">
              <a:shade val="50000"/>
            </a:schemeClr>
          </a:lnRef>
          <a:fillRef idx="1">
            <a:schemeClr val="accent1"/>
          </a:fillRef>
          <a:effectRef idx="0">
            <a:schemeClr val="accent1"/>
          </a:effectRef>
          <a:fontRef idx="minor">
            <a:schemeClr val="lt1"/>
          </a:fontRef>
        </p:style>
        <p:txBody>
          <a:bodyPr>
            <a:normAutofit fontScale="90000"/>
          </a:bodyPr>
          <a:lstStyle/>
          <a:p>
            <a:pPr algn="ctr"/>
            <a:r>
              <a:rPr lang="en-US" dirty="0"/>
              <a:t>Relational Schema</a:t>
            </a:r>
          </a:p>
        </p:txBody>
      </p:sp>
    </p:spTree>
    <p:extLst>
      <p:ext uri="{BB962C8B-B14F-4D97-AF65-F5344CB8AC3E}">
        <p14:creationId xmlns:p14="http://schemas.microsoft.com/office/powerpoint/2010/main" val="2438573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8F75BFD-BEAE-436F-9AD6-311B3598A355}"/>
              </a:ext>
            </a:extLst>
          </p:cNvPr>
          <p:cNvSpPr>
            <a:spLocks noGrp="1"/>
          </p:cNvSpPr>
          <p:nvPr>
            <p:ph type="title"/>
          </p:nvPr>
        </p:nvSpPr>
        <p:spPr>
          <a:xfrm>
            <a:off x="0" y="0"/>
            <a:ext cx="12192000" cy="660400"/>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3600" dirty="0"/>
              <a:t>Normalization(From 1NF to BCNF)</a:t>
            </a:r>
          </a:p>
        </p:txBody>
      </p:sp>
      <p:sp>
        <p:nvSpPr>
          <p:cNvPr id="5" name="Rectangle 1">
            <a:extLst>
              <a:ext uri="{FF2B5EF4-FFF2-40B4-BE49-F238E27FC236}">
                <a16:creationId xmlns:a16="http://schemas.microsoft.com/office/drawing/2014/main" id="{32C762B7-29C5-49C0-BCE3-18BBF3C3BD4F}"/>
              </a:ext>
            </a:extLst>
          </p:cNvPr>
          <p:cNvSpPr>
            <a:spLocks noGrp="1" noChangeArrowheads="1"/>
          </p:cNvSpPr>
          <p:nvPr>
            <p:ph idx="1"/>
          </p:nvPr>
        </p:nvSpPr>
        <p:spPr bwMode="auto">
          <a:xfrm>
            <a:off x="152400" y="597741"/>
            <a:ext cx="12039600" cy="6273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indent="0">
              <a:lnSpc>
                <a:spcPct val="107000"/>
              </a:lnSpc>
              <a:spcBef>
                <a:spcPts val="0"/>
              </a:spcBef>
              <a:spcAft>
                <a:spcPts val="800"/>
              </a:spcAft>
              <a:buNone/>
            </a:pPr>
            <a:r>
              <a:rPr lang="en-US" sz="1700" b="1" u="sng" dirty="0">
                <a:effectLst/>
                <a:latin typeface="Arial" panose="020B0604020202020204" pitchFamily="34" charset="0"/>
                <a:ea typeface="Calibri" panose="020F0502020204030204" pitchFamily="34" charset="0"/>
                <a:cs typeface="Times New Roman" panose="02020603050405020304" pitchFamily="18" charset="0"/>
              </a:rPr>
              <a:t>1NF</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US" sz="1700" dirty="0">
                <a:effectLst/>
                <a:latin typeface="Arial" panose="020B0604020202020204" pitchFamily="34" charset="0"/>
                <a:ea typeface="Calibri" panose="020F0502020204030204" pitchFamily="34" charset="0"/>
                <a:cs typeface="Times New Roman" panose="02020603050405020304" pitchFamily="18" charset="0"/>
              </a:rPr>
              <a:t>Ensure atomic fields: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movie_id</a:t>
            </a:r>
            <a:r>
              <a:rPr lang="en-US" sz="1700" dirty="0">
                <a:effectLst/>
                <a:latin typeface="Arial" panose="020B0604020202020204" pitchFamily="34" charset="0"/>
                <a:ea typeface="Calibri" panose="020F0502020204030204" pitchFamily="34" charset="0"/>
                <a:cs typeface="Times New Roman" panose="02020603050405020304" pitchFamily="18" charset="0"/>
              </a:rPr>
              <a:t>, title, showtime,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release_date</a:t>
            </a:r>
            <a:r>
              <a:rPr lang="en-US" sz="1700" dirty="0">
                <a:effectLst/>
                <a:latin typeface="Arial" panose="020B0604020202020204" pitchFamily="34" charset="0"/>
                <a:ea typeface="Calibri" panose="020F0502020204030204" pitchFamily="34" charset="0"/>
                <a:cs typeface="Times New Roman" panose="02020603050405020304" pitchFamily="18" charset="0"/>
              </a:rPr>
              <a:t>,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price_per_seat</a:t>
            </a:r>
            <a:r>
              <a:rPr lang="en-US" sz="1700" dirty="0">
                <a:effectLst/>
                <a:latin typeface="Arial" panose="020B0604020202020204" pitchFamily="34" charset="0"/>
                <a:ea typeface="Calibri" panose="020F0502020204030204" pitchFamily="34" charset="0"/>
                <a:cs typeface="Times New Roman" panose="02020603050405020304" pitchFamily="18" charset="0"/>
              </a:rPr>
              <a:t>,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total_seats</a:t>
            </a:r>
            <a:r>
              <a:rPr lang="en-US" sz="1700" dirty="0">
                <a:effectLst/>
                <a:latin typeface="Arial" panose="020B0604020202020204" pitchFamily="34" charset="0"/>
                <a:ea typeface="Calibri" panose="020F0502020204030204" pitchFamily="34" charset="0"/>
                <a:cs typeface="Times New Roman" panose="02020603050405020304" pitchFamily="18" charset="0"/>
              </a:rPr>
              <a:t>,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theater_id</a:t>
            </a:r>
            <a:r>
              <a:rPr lang="en-US" sz="1700" dirty="0">
                <a:effectLst/>
                <a:latin typeface="Arial" panose="020B0604020202020204" pitchFamily="34" charset="0"/>
                <a:ea typeface="Calibri" panose="020F0502020204030204" pitchFamily="34" charset="0"/>
                <a:cs typeface="Times New Roman" panose="02020603050405020304" pitchFamily="18" charset="0"/>
              </a:rPr>
              <a:t>, genre, duration and remove any repeating groups(none here).</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700" b="1" u="sng" dirty="0">
                <a:effectLst/>
                <a:latin typeface="Arial" panose="020B0604020202020204" pitchFamily="34" charset="0"/>
                <a:ea typeface="Calibri" panose="020F0502020204030204" pitchFamily="34" charset="0"/>
                <a:cs typeface="Times New Roman" panose="02020603050405020304" pitchFamily="18" charset="0"/>
              </a:rPr>
              <a:t>2NF</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spcBef>
                <a:spcPts val="0"/>
              </a:spcBef>
              <a:spcAft>
                <a:spcPts val="800"/>
              </a:spcAft>
              <a:buFont typeface="Wingdings" panose="05000000000000000000" pitchFamily="2" charset="2"/>
              <a:buChar char=""/>
              <a:tabLst>
                <a:tab pos="457200" algn="l"/>
              </a:tabLst>
            </a:pPr>
            <a:r>
              <a:rPr lang="en-US" sz="1700" dirty="0">
                <a:effectLst/>
                <a:latin typeface="Arial" panose="020B0604020202020204" pitchFamily="34" charset="0"/>
                <a:ea typeface="Calibri" panose="020F0502020204030204" pitchFamily="34" charset="0"/>
                <a:cs typeface="Times New Roman" panose="02020603050405020304" pitchFamily="18" charset="0"/>
              </a:rPr>
              <a:t>Primary key is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movie_id</a:t>
            </a:r>
            <a:r>
              <a:rPr lang="en-US" sz="1700" dirty="0">
                <a:effectLst/>
                <a:latin typeface="Arial" panose="020B0604020202020204" pitchFamily="34" charset="0"/>
                <a:ea typeface="Calibri" panose="020F0502020204030204" pitchFamily="34" charset="0"/>
                <a:cs typeface="Times New Roman" panose="02020603050405020304" pitchFamily="18" charset="0"/>
              </a:rPr>
              <a:t>. So no partial dependencies because the key is not composite. All attributes depend fully on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movie_id</a:t>
            </a:r>
            <a:r>
              <a:rPr lang="en-US" sz="1700" dirty="0">
                <a:effectLst/>
                <a:latin typeface="Arial" panose="020B0604020202020204" pitchFamily="34" charset="0"/>
                <a:ea typeface="Calibri" panose="020F0502020204030204" pitchFamily="34" charset="0"/>
                <a:cs typeface="Times New Roman" panose="02020603050405020304" pitchFamily="18"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700" b="1" u="sng" dirty="0">
                <a:effectLst/>
                <a:latin typeface="Arial" panose="020B0604020202020204" pitchFamily="34" charset="0"/>
                <a:ea typeface="Calibri" panose="020F0502020204030204" pitchFamily="34" charset="0"/>
                <a:cs typeface="Times New Roman" panose="02020603050405020304" pitchFamily="18" charset="0"/>
              </a:rPr>
              <a:t>3NF</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US" sz="1700" dirty="0">
                <a:effectLst/>
                <a:latin typeface="Arial" panose="020B0604020202020204" pitchFamily="34" charset="0"/>
                <a:ea typeface="Calibri" panose="020F0502020204030204" pitchFamily="34" charset="0"/>
                <a:cs typeface="Times New Roman" panose="02020603050405020304" pitchFamily="18" charset="0"/>
              </a:rPr>
              <a:t>Identify transitive dependency: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theater_id</a:t>
            </a:r>
            <a:r>
              <a:rPr lang="en-US" sz="1700" dirty="0">
                <a:effectLst/>
                <a:latin typeface="Arial" panose="020B0604020202020204" pitchFamily="34" charset="0"/>
                <a:ea typeface="Calibri" panose="020F0502020204030204" pitchFamily="34" charset="0"/>
                <a:cs typeface="Times New Roman" panose="02020603050405020304" pitchFamily="18" charset="0"/>
              </a:rPr>
              <a:t> →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theater_number</a:t>
            </a:r>
            <a:r>
              <a:rPr lang="en-US" sz="1700" dirty="0">
                <a:effectLst/>
                <a:latin typeface="Arial" panose="020B0604020202020204" pitchFamily="34" charset="0"/>
                <a:ea typeface="Calibri" panose="020F0502020204030204" pitchFamily="34" charset="0"/>
                <a:cs typeface="Times New Roman" panose="02020603050405020304" pitchFamily="18" charset="0"/>
              </a:rPr>
              <a:t>, location.</a:t>
            </a:r>
            <a:r>
              <a:rPr lang="en-US" sz="1700" dirty="0">
                <a:latin typeface="Calibri" panose="020F0502020204030204" pitchFamily="34" charset="0"/>
                <a:ea typeface="Calibri" panose="020F0502020204030204" pitchFamily="34" charset="0"/>
                <a:cs typeface="Times New Roman" panose="02020603050405020304" pitchFamily="18" charset="0"/>
              </a:rPr>
              <a:t> </a:t>
            </a:r>
            <a:r>
              <a:rPr lang="en-US" sz="1700" dirty="0">
                <a:effectLst/>
                <a:latin typeface="Arial" panose="020B0604020202020204" pitchFamily="34" charset="0"/>
                <a:ea typeface="Calibri" panose="020F0502020204030204" pitchFamily="34" charset="0"/>
                <a:cs typeface="Times New Roman" panose="02020603050405020304" pitchFamily="18" charset="0"/>
              </a:rPr>
              <a:t>These theater attributes do not belong in movies.</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US" sz="1700" dirty="0">
                <a:effectLst/>
                <a:latin typeface="Arial" panose="020B0604020202020204" pitchFamily="34" charset="0"/>
                <a:ea typeface="Calibri" panose="020F0502020204030204" pitchFamily="34" charset="0"/>
                <a:cs typeface="Times New Roman" panose="02020603050405020304" pitchFamily="18" charset="0"/>
              </a:rPr>
              <a:t>Fix: Move theater details into separate “theaters” table and reference it by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theater_id</a:t>
            </a:r>
            <a:r>
              <a:rPr lang="en-US" sz="1700" dirty="0">
                <a:effectLst/>
                <a:latin typeface="Arial" panose="020B0604020202020204" pitchFamily="34" charset="0"/>
                <a:ea typeface="Calibri" panose="020F0502020204030204" pitchFamily="34" charset="0"/>
                <a:cs typeface="Times New Roman" panose="02020603050405020304" pitchFamily="18" charset="0"/>
              </a:rPr>
              <a:t>.</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700" b="1" u="sng" dirty="0">
                <a:effectLst/>
                <a:latin typeface="Arial" panose="020B0604020202020204" pitchFamily="34" charset="0"/>
                <a:ea typeface="Calibri" panose="020F0502020204030204" pitchFamily="34" charset="0"/>
                <a:cs typeface="Times New Roman" panose="02020603050405020304" pitchFamily="18" charset="0"/>
              </a:rPr>
              <a:t>BCNF</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US" sz="1700" dirty="0">
                <a:effectLst/>
                <a:latin typeface="Arial" panose="020B0604020202020204" pitchFamily="34" charset="0"/>
                <a:ea typeface="Calibri" panose="020F0502020204030204" pitchFamily="34" charset="0"/>
                <a:cs typeface="Times New Roman" panose="02020603050405020304" pitchFamily="18" charset="0"/>
              </a:rPr>
              <a:t>All determinants must be candidate keys.</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US" sz="1700" dirty="0" err="1">
                <a:effectLst/>
                <a:latin typeface="Arial" panose="020B0604020202020204" pitchFamily="34" charset="0"/>
                <a:ea typeface="Calibri" panose="020F0502020204030204" pitchFamily="34" charset="0"/>
                <a:cs typeface="Times New Roman" panose="02020603050405020304" pitchFamily="18" charset="0"/>
              </a:rPr>
              <a:t>movie_id</a:t>
            </a:r>
            <a:r>
              <a:rPr lang="en-US" sz="1700" dirty="0">
                <a:effectLst/>
                <a:latin typeface="Arial" panose="020B0604020202020204" pitchFamily="34" charset="0"/>
                <a:ea typeface="Calibri" panose="020F0502020204030204" pitchFamily="34" charset="0"/>
                <a:cs typeface="Times New Roman" panose="02020603050405020304" pitchFamily="18" charset="0"/>
              </a:rPr>
              <a:t> determines all movie attributes.</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US" sz="1700" dirty="0" err="1">
                <a:effectLst/>
                <a:latin typeface="Arial" panose="020B0604020202020204" pitchFamily="34" charset="0"/>
                <a:ea typeface="Calibri" panose="020F0502020204030204" pitchFamily="34" charset="0"/>
                <a:cs typeface="Times New Roman" panose="02020603050405020304" pitchFamily="18" charset="0"/>
              </a:rPr>
              <a:t>theater_id</a:t>
            </a:r>
            <a:r>
              <a:rPr lang="en-US" sz="1700" dirty="0">
                <a:effectLst/>
                <a:latin typeface="Arial" panose="020B0604020202020204" pitchFamily="34" charset="0"/>
                <a:ea typeface="Calibri" panose="020F0502020204030204" pitchFamily="34" charset="0"/>
                <a:cs typeface="Times New Roman" panose="02020603050405020304" pitchFamily="18" charset="0"/>
              </a:rPr>
              <a:t> determines theater attributes in its own table, not inside movies.</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US" sz="1700" dirty="0">
                <a:effectLst/>
                <a:latin typeface="Arial" panose="020B0604020202020204" pitchFamily="34" charset="0"/>
                <a:ea typeface="Calibri" panose="020F0502020204030204" pitchFamily="34" charset="0"/>
                <a:cs typeface="Times New Roman" panose="02020603050405020304" pitchFamily="18" charset="0"/>
              </a:rPr>
              <a:t>After separating tables, no non-key attribute determines another non-key attribute.</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700" b="1" u="sng" dirty="0">
                <a:effectLst/>
                <a:latin typeface="Arial" panose="020B0604020202020204" pitchFamily="34" charset="0"/>
                <a:ea typeface="Calibri" panose="020F0502020204030204" pitchFamily="34" charset="0"/>
                <a:cs typeface="Times New Roman" panose="02020603050405020304" pitchFamily="18" charset="0"/>
              </a:rPr>
              <a:t>Final Schema after Normalization</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US" sz="1700" dirty="0">
                <a:effectLst/>
                <a:latin typeface="Arial" panose="020B0604020202020204" pitchFamily="34" charset="0"/>
                <a:ea typeface="Calibri" panose="020F0502020204030204" pitchFamily="34" charset="0"/>
                <a:cs typeface="Times New Roman" panose="02020603050405020304" pitchFamily="18" charset="0"/>
              </a:rPr>
              <a:t>movies(</a:t>
            </a:r>
            <a:r>
              <a:rPr lang="en-US" sz="1700" dirty="0" err="1">
                <a:effectLst/>
                <a:latin typeface="Arial" panose="020B0604020202020204" pitchFamily="34" charset="0"/>
                <a:ea typeface="Calibri" panose="020F0502020204030204" pitchFamily="34" charset="0"/>
                <a:cs typeface="Times New Roman" panose="02020603050405020304" pitchFamily="18" charset="0"/>
              </a:rPr>
              <a:t>movie_id</a:t>
            </a:r>
            <a:r>
              <a:rPr lang="en-US" sz="1700" dirty="0">
                <a:effectLst/>
                <a:latin typeface="Arial" panose="020B0604020202020204" pitchFamily="34" charset="0"/>
                <a:ea typeface="Calibri" panose="020F0502020204030204" pitchFamily="34" charset="0"/>
                <a:cs typeface="Times New Roman" panose="02020603050405020304" pitchFamily="18" charset="0"/>
              </a:rPr>
              <a:t>, title, showtime,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release_date</a:t>
            </a:r>
            <a:r>
              <a:rPr lang="en-US" sz="1700" dirty="0">
                <a:effectLst/>
                <a:latin typeface="Arial" panose="020B0604020202020204" pitchFamily="34" charset="0"/>
                <a:ea typeface="Calibri" panose="020F0502020204030204" pitchFamily="34" charset="0"/>
                <a:cs typeface="Times New Roman" panose="02020603050405020304" pitchFamily="18" charset="0"/>
              </a:rPr>
              <a:t>,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price_per_seat</a:t>
            </a:r>
            <a:r>
              <a:rPr lang="en-US" sz="1700" dirty="0">
                <a:effectLst/>
                <a:latin typeface="Arial" panose="020B0604020202020204" pitchFamily="34" charset="0"/>
                <a:ea typeface="Calibri" panose="020F0502020204030204" pitchFamily="34" charset="0"/>
                <a:cs typeface="Times New Roman" panose="02020603050405020304" pitchFamily="18" charset="0"/>
              </a:rPr>
              <a:t>,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total_seats</a:t>
            </a:r>
            <a:r>
              <a:rPr lang="en-US" sz="1700" dirty="0">
                <a:effectLst/>
                <a:latin typeface="Arial" panose="020B0604020202020204" pitchFamily="34" charset="0"/>
                <a:ea typeface="Calibri" panose="020F0502020204030204" pitchFamily="34" charset="0"/>
                <a:cs typeface="Times New Roman" panose="02020603050405020304" pitchFamily="18" charset="0"/>
              </a:rPr>
              <a:t>,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theater_id</a:t>
            </a:r>
            <a:r>
              <a:rPr lang="en-US" sz="1700" dirty="0">
                <a:effectLst/>
                <a:latin typeface="Arial" panose="020B0604020202020204" pitchFamily="34" charset="0"/>
                <a:ea typeface="Calibri" panose="020F0502020204030204" pitchFamily="34" charset="0"/>
                <a:cs typeface="Times New Roman" panose="02020603050405020304" pitchFamily="18" charset="0"/>
              </a:rPr>
              <a:t>, genre, duration)</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Wingdings" panose="05000000000000000000" pitchFamily="2" charset="2"/>
              <a:buChar char=""/>
              <a:tabLst>
                <a:tab pos="457200" algn="l"/>
              </a:tabLst>
            </a:pPr>
            <a:r>
              <a:rPr lang="en-US" sz="1700" dirty="0">
                <a:effectLst/>
                <a:latin typeface="Arial" panose="020B0604020202020204" pitchFamily="34" charset="0"/>
                <a:ea typeface="Calibri" panose="020F0502020204030204" pitchFamily="34" charset="0"/>
                <a:cs typeface="Times New Roman" panose="02020603050405020304" pitchFamily="18" charset="0"/>
              </a:rPr>
              <a:t>theaters(</a:t>
            </a:r>
            <a:r>
              <a:rPr lang="en-US" sz="1700" dirty="0" err="1">
                <a:effectLst/>
                <a:latin typeface="Arial" panose="020B0604020202020204" pitchFamily="34" charset="0"/>
                <a:ea typeface="Calibri" panose="020F0502020204030204" pitchFamily="34" charset="0"/>
                <a:cs typeface="Times New Roman" panose="02020603050405020304" pitchFamily="18" charset="0"/>
              </a:rPr>
              <a:t>theater_id</a:t>
            </a:r>
            <a:r>
              <a:rPr lang="en-US" sz="1700" dirty="0">
                <a:effectLst/>
                <a:latin typeface="Arial" panose="020B0604020202020204" pitchFamily="34" charset="0"/>
                <a:ea typeface="Calibri" panose="020F0502020204030204" pitchFamily="34" charset="0"/>
                <a:cs typeface="Times New Roman" panose="02020603050405020304" pitchFamily="18" charset="0"/>
              </a:rPr>
              <a:t>, </a:t>
            </a:r>
            <a:r>
              <a:rPr lang="en-US" sz="1700" dirty="0" err="1">
                <a:effectLst/>
                <a:latin typeface="Arial" panose="020B0604020202020204" pitchFamily="34" charset="0"/>
                <a:ea typeface="Calibri" panose="020F0502020204030204" pitchFamily="34" charset="0"/>
                <a:cs typeface="Times New Roman" panose="02020603050405020304" pitchFamily="18" charset="0"/>
              </a:rPr>
              <a:t>theater_number</a:t>
            </a:r>
            <a:r>
              <a:rPr lang="en-US" sz="1700" dirty="0">
                <a:effectLst/>
                <a:latin typeface="Arial" panose="020B0604020202020204" pitchFamily="34" charset="0"/>
                <a:ea typeface="Calibri" panose="020F0502020204030204" pitchFamily="34" charset="0"/>
                <a:cs typeface="Times New Roman" panose="02020603050405020304" pitchFamily="18" charset="0"/>
              </a:rPr>
              <a:t>, location)</a:t>
            </a:r>
            <a:endParaRPr lang="en-US" sz="17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11343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8B2F8D2-E61D-4E07-94C6-233D013F91F9}"/>
              </a:ext>
            </a:extLst>
          </p:cNvPr>
          <p:cNvSpPr>
            <a:spLocks noGrp="1" noChangeArrowheads="1"/>
          </p:cNvSpPr>
          <p:nvPr>
            <p:ph idx="1"/>
          </p:nvPr>
        </p:nvSpPr>
        <p:spPr bwMode="auto">
          <a:xfrm>
            <a:off x="63500" y="1228397"/>
            <a:ext cx="12065000" cy="4401205"/>
          </a:xfrm>
          <a:prstGeom prst="rect">
            <a:avLst/>
          </a:prstGeom>
          <a:ln/>
        </p:spPr>
        <p:style>
          <a:lnRef idx="1">
            <a:schemeClr val="accent1"/>
          </a:lnRef>
          <a:fillRef idx="2">
            <a:schemeClr val="accent1"/>
          </a:fillRef>
          <a:effectRef idx="1">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a:ln>
                  <a:noFill/>
                </a:ln>
                <a:effectLst/>
                <a:latin typeface="Arial" panose="020B0604020202020204" pitchFamily="34" charset="0"/>
                <a:cs typeface="Arial" panose="020B0604020202020204" pitchFamily="34" charset="0"/>
              </a:rPr>
              <a:t>Movies running today</a:t>
            </a: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SELECT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m.title</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s.show_date</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s.show_time</a:t>
            </a: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FROM Show s JOIN Movie m ON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s.movie_id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m.movie_id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WHERE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s.show_date</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 CURDATE(); </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a:ln>
                  <a:noFill/>
                </a:ln>
                <a:effectLst/>
                <a:latin typeface="Arial" panose="020B0604020202020204" pitchFamily="34" charset="0"/>
                <a:cs typeface="Arial" panose="020B0604020202020204" pitchFamily="34" charset="0"/>
              </a:rPr>
              <a:t>Available seats for a show</a:t>
            </a: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SELECT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seat_no</a:t>
            </a: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FROM Seat WHERE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hall_id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 (SELECT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hall_id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FROM Show WHERE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show_id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 5)</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AND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seat_no</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NOT IN ( SELECT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seat_no</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FROM Booking WHERE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show_id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 5 ); </a:t>
            </a:r>
          </a:p>
          <a:p>
            <a:pPr marL="0" marR="0" lvl="0" indent="0"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a:ln>
                  <a:noFill/>
                </a:ln>
                <a:effectLst/>
                <a:latin typeface="Arial" panose="020B0604020202020204" pitchFamily="34" charset="0"/>
                <a:cs typeface="Arial" panose="020B0604020202020204" pitchFamily="34" charset="0"/>
              </a:rPr>
              <a:t>Total bookings per movie</a:t>
            </a:r>
            <a:endParaRPr kumimoji="0" lang="en-US" altLang="en-US" sz="2000" b="0" i="0" u="none" strike="noStrike" cap="none" normalizeH="0" baseline="0" dirty="0">
              <a:ln>
                <a:noFill/>
              </a:ln>
              <a:effectLst/>
              <a:latin typeface="Arial" panose="020B0604020202020204" pitchFamily="34" charset="0"/>
              <a:cs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SELECT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m.title</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COUNT(</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b.booking_id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AS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total_bookings</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FROM Booking b JOIN Show s ON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b.show_id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s.show_id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JOIN Movie m ON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s.movie_id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m.movie_id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GROUP BY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m.movie_id</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a:t>
            </a:r>
            <a:r>
              <a:rPr kumimoji="0" lang="en-US" altLang="en-US" sz="2000" b="0" i="0" u="none" strike="noStrike" cap="none" normalizeH="0" baseline="0" dirty="0" err="1">
                <a:ln>
                  <a:noFill/>
                </a:ln>
                <a:effectLst/>
                <a:latin typeface="Arial" panose="020B0604020202020204" pitchFamily="34" charset="0"/>
                <a:cs typeface="Arial" panose="020B0604020202020204" pitchFamily="34" charset="0"/>
              </a:rPr>
              <a:t>m.title</a:t>
            </a:r>
            <a:r>
              <a:rPr kumimoji="0" lang="en-US" altLang="en-US" sz="2000" b="0" i="0" u="none" strike="noStrike" cap="none" normalizeH="0" baseline="0" dirty="0">
                <a:ln>
                  <a:noFill/>
                </a:ln>
                <a:effectLst/>
                <a:latin typeface="Arial" panose="020B0604020202020204" pitchFamily="34" charset="0"/>
                <a:cs typeface="Arial" panose="020B0604020202020204" pitchFamily="34" charset="0"/>
              </a:rPr>
              <a:t>; </a:t>
            </a:r>
          </a:p>
        </p:txBody>
      </p:sp>
      <p:sp>
        <p:nvSpPr>
          <p:cNvPr id="5" name="Title 1">
            <a:extLst>
              <a:ext uri="{FF2B5EF4-FFF2-40B4-BE49-F238E27FC236}">
                <a16:creationId xmlns:a16="http://schemas.microsoft.com/office/drawing/2014/main" id="{894D5DA2-AA73-4B09-8BD0-3966ED165D53}"/>
              </a:ext>
            </a:extLst>
          </p:cNvPr>
          <p:cNvSpPr>
            <a:spLocks noGrp="1"/>
          </p:cNvSpPr>
          <p:nvPr>
            <p:ph type="title"/>
          </p:nvPr>
        </p:nvSpPr>
        <p:spPr>
          <a:xfrm>
            <a:off x="0" y="0"/>
            <a:ext cx="12192000" cy="838200"/>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3600" dirty="0"/>
              <a:t>Sample Queries</a:t>
            </a:r>
          </a:p>
        </p:txBody>
      </p:sp>
    </p:spTree>
    <p:extLst>
      <p:ext uri="{BB962C8B-B14F-4D97-AF65-F5344CB8AC3E}">
        <p14:creationId xmlns:p14="http://schemas.microsoft.com/office/powerpoint/2010/main" val="3293598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B17F83-DEC5-4733-A8B0-369D62F27C44}"/>
              </a:ext>
            </a:extLst>
          </p:cNvPr>
          <p:cNvSpPr>
            <a:spLocks noGrp="1"/>
          </p:cNvSpPr>
          <p:nvPr>
            <p:ph idx="1"/>
          </p:nvPr>
        </p:nvSpPr>
        <p:spPr>
          <a:xfrm>
            <a:off x="6096000" y="660400"/>
            <a:ext cx="6096000" cy="6197599"/>
          </a:xfrm>
          <a:solidFill>
            <a:srgbClr val="092471"/>
          </a:solidFill>
        </p:spPr>
        <p:txBody>
          <a:bodyPr>
            <a:normAutofit fontScale="92500" lnSpcReduction="20000"/>
          </a:bodyPr>
          <a:lstStyle/>
          <a:p>
            <a:br>
              <a:rPr lang="en-US" sz="1400" dirty="0">
                <a:solidFill>
                  <a:schemeClr val="bg1"/>
                </a:solidFill>
                <a:latin typeface="Arial" panose="020B0604020202020204" pitchFamily="34" charset="0"/>
                <a:cs typeface="Arial" panose="020B0604020202020204" pitchFamily="34" charset="0"/>
              </a:rPr>
            </a:b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-- 5) bookings</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CREATE TABLE bookings (</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booking_id</a:t>
            </a:r>
            <a:r>
              <a:rPr lang="en-US" sz="1400" dirty="0">
                <a:solidFill>
                  <a:schemeClr val="bg1"/>
                </a:solidFill>
                <a:latin typeface="Arial" panose="020B0604020202020204" pitchFamily="34" charset="0"/>
                <a:cs typeface="Arial" panose="020B0604020202020204" pitchFamily="34" charset="0"/>
              </a:rPr>
              <a:t> INT AUTO_INCREMENT PRIMARY KEY,</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user_id</a:t>
            </a:r>
            <a:r>
              <a:rPr lang="en-US" sz="1400" dirty="0">
                <a:solidFill>
                  <a:schemeClr val="bg1"/>
                </a:solidFill>
                <a:latin typeface="Arial" panose="020B0604020202020204" pitchFamily="34" charset="0"/>
                <a:cs typeface="Arial" panose="020B0604020202020204" pitchFamily="34" charset="0"/>
              </a:rPr>
              <a:t> INT NOT NULL,</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movie_id</a:t>
            </a:r>
            <a:r>
              <a:rPr lang="en-US" sz="1400" dirty="0">
                <a:solidFill>
                  <a:schemeClr val="bg1"/>
                </a:solidFill>
                <a:latin typeface="Arial" panose="020B0604020202020204" pitchFamily="34" charset="0"/>
                <a:cs typeface="Arial" panose="020B0604020202020204" pitchFamily="34" charset="0"/>
              </a:rPr>
              <a:t> INT NOT NULL,</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seats_booked</a:t>
            </a:r>
            <a:r>
              <a:rPr lang="en-US" sz="1400" dirty="0">
                <a:solidFill>
                  <a:schemeClr val="bg1"/>
                </a:solidFill>
                <a:latin typeface="Arial" panose="020B0604020202020204" pitchFamily="34" charset="0"/>
                <a:cs typeface="Arial" panose="020B0604020202020204" pitchFamily="34" charset="0"/>
              </a:rPr>
              <a:t> INT NOT NULL,</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booking_date</a:t>
            </a:r>
            <a:r>
              <a:rPr lang="en-US" sz="1400" dirty="0">
                <a:solidFill>
                  <a:schemeClr val="bg1"/>
                </a:solidFill>
                <a:latin typeface="Arial" panose="020B0604020202020204" pitchFamily="34" charset="0"/>
                <a:cs typeface="Arial" panose="020B0604020202020204" pitchFamily="34" charset="0"/>
              </a:rPr>
              <a:t> DATETIME NOT NULL DEFAULT CURRENT_TIMESTAMP,</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FOREIGN KEY (</a:t>
            </a:r>
            <a:r>
              <a:rPr lang="en-US" sz="1400" dirty="0" err="1">
                <a:solidFill>
                  <a:schemeClr val="bg1"/>
                </a:solidFill>
                <a:latin typeface="Arial" panose="020B0604020202020204" pitchFamily="34" charset="0"/>
                <a:cs typeface="Arial" panose="020B0604020202020204" pitchFamily="34" charset="0"/>
              </a:rPr>
              <a:t>user_id</a:t>
            </a:r>
            <a:r>
              <a:rPr lang="en-US" sz="1400" dirty="0">
                <a:solidFill>
                  <a:schemeClr val="bg1"/>
                </a:solidFill>
                <a:latin typeface="Arial" panose="020B0604020202020204" pitchFamily="34" charset="0"/>
                <a:cs typeface="Arial" panose="020B0604020202020204" pitchFamily="34" charset="0"/>
              </a:rPr>
              <a:t>) REFERENCES users(</a:t>
            </a:r>
            <a:r>
              <a:rPr lang="en-US" sz="1400" dirty="0" err="1">
                <a:solidFill>
                  <a:schemeClr val="bg1"/>
                </a:solidFill>
                <a:latin typeface="Arial" panose="020B0604020202020204" pitchFamily="34" charset="0"/>
                <a:cs typeface="Arial" panose="020B0604020202020204" pitchFamily="34" charset="0"/>
              </a:rPr>
              <a:t>user_id</a:t>
            </a:r>
            <a:r>
              <a:rPr lang="en-US" sz="1400" dirty="0">
                <a:solidFill>
                  <a:schemeClr val="bg1"/>
                </a:solidFill>
                <a:latin typeface="Arial" panose="020B0604020202020204" pitchFamily="34" charset="0"/>
                <a:cs typeface="Arial" panose="020B0604020202020204" pitchFamily="34" charset="0"/>
              </a:rPr>
              <a:t>) ON DELETE CASCADE,</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FOREIGN KEY (</a:t>
            </a:r>
            <a:r>
              <a:rPr lang="en-US" sz="1400" dirty="0" err="1">
                <a:solidFill>
                  <a:schemeClr val="bg1"/>
                </a:solidFill>
                <a:latin typeface="Arial" panose="020B0604020202020204" pitchFamily="34" charset="0"/>
                <a:cs typeface="Arial" panose="020B0604020202020204" pitchFamily="34" charset="0"/>
              </a:rPr>
              <a:t>movie_id</a:t>
            </a:r>
            <a:r>
              <a:rPr lang="en-US" sz="1400" dirty="0">
                <a:solidFill>
                  <a:schemeClr val="bg1"/>
                </a:solidFill>
                <a:latin typeface="Arial" panose="020B0604020202020204" pitchFamily="34" charset="0"/>
                <a:cs typeface="Arial" panose="020B0604020202020204" pitchFamily="34" charset="0"/>
              </a:rPr>
              <a:t>) REFERENCES movies(</a:t>
            </a:r>
            <a:r>
              <a:rPr lang="en-US" sz="1400" dirty="0" err="1">
                <a:solidFill>
                  <a:schemeClr val="bg1"/>
                </a:solidFill>
                <a:latin typeface="Arial" panose="020B0604020202020204" pitchFamily="34" charset="0"/>
                <a:cs typeface="Arial" panose="020B0604020202020204" pitchFamily="34" charset="0"/>
              </a:rPr>
              <a:t>movie_id</a:t>
            </a:r>
            <a:r>
              <a:rPr lang="en-US" sz="1400" dirty="0">
                <a:solidFill>
                  <a:schemeClr val="bg1"/>
                </a:solidFill>
                <a:latin typeface="Arial" panose="020B0604020202020204" pitchFamily="34" charset="0"/>
                <a:cs typeface="Arial" panose="020B0604020202020204" pitchFamily="34" charset="0"/>
              </a:rPr>
              <a:t>) ON DELETE CASCADE</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a:t>
            </a:r>
            <a:br>
              <a:rPr lang="en-US" sz="1400" dirty="0">
                <a:solidFill>
                  <a:schemeClr val="bg1"/>
                </a:solidFill>
                <a:latin typeface="Arial" panose="020B0604020202020204" pitchFamily="34" charset="0"/>
                <a:cs typeface="Arial" panose="020B0604020202020204" pitchFamily="34" charset="0"/>
              </a:rPr>
            </a:b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-- 6) </a:t>
            </a:r>
            <a:r>
              <a:rPr lang="en-US" sz="1400" dirty="0" err="1">
                <a:solidFill>
                  <a:schemeClr val="bg1"/>
                </a:solidFill>
                <a:latin typeface="Arial" panose="020B0604020202020204" pitchFamily="34" charset="0"/>
                <a:cs typeface="Arial" panose="020B0604020202020204" pitchFamily="34" charset="0"/>
              </a:rPr>
              <a:t>pending_registrations</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 created to satisfy the 7-table requirement. Not used by default implementation.</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CREATE TABLE </a:t>
            </a:r>
            <a:r>
              <a:rPr lang="en-US" sz="1400" dirty="0" err="1">
                <a:solidFill>
                  <a:schemeClr val="bg1"/>
                </a:solidFill>
                <a:latin typeface="Arial" panose="020B0604020202020204" pitchFamily="34" charset="0"/>
                <a:cs typeface="Arial" panose="020B0604020202020204" pitchFamily="34" charset="0"/>
              </a:rPr>
              <a:t>pending_registrations</a:t>
            </a:r>
            <a:r>
              <a:rPr lang="en-US" sz="1400" dirty="0">
                <a:solidFill>
                  <a:schemeClr val="bg1"/>
                </a:solidFill>
                <a:latin typeface="Arial" panose="020B0604020202020204" pitchFamily="34" charset="0"/>
                <a:cs typeface="Arial" panose="020B0604020202020204" pitchFamily="34" charset="0"/>
              </a:rPr>
              <a:t> (</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pending_id</a:t>
            </a:r>
            <a:r>
              <a:rPr lang="en-US" sz="1400" dirty="0">
                <a:solidFill>
                  <a:schemeClr val="bg1"/>
                </a:solidFill>
                <a:latin typeface="Arial" panose="020B0604020202020204" pitchFamily="34" charset="0"/>
                <a:cs typeface="Arial" panose="020B0604020202020204" pitchFamily="34" charset="0"/>
              </a:rPr>
              <a:t> INT AUTO_INCREMENT PRIMARY KEY,</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name VARCHAR(100) NOT NULL,</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phone VARCHAR(30),</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email VARCHAR(150) NOT NULL,</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password VARCHAR(255) NOT NULL,</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reg_date</a:t>
            </a:r>
            <a:r>
              <a:rPr lang="en-US" sz="1400" dirty="0">
                <a:solidFill>
                  <a:schemeClr val="bg1"/>
                </a:solidFill>
                <a:latin typeface="Arial" panose="020B0604020202020204" pitchFamily="34" charset="0"/>
                <a:cs typeface="Arial" panose="020B0604020202020204" pitchFamily="34" charset="0"/>
              </a:rPr>
              <a:t> DATETIME NOT NULL DEFAULT CURRENT_TIMESTAMP</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a:t>
            </a:r>
            <a:br>
              <a:rPr lang="en-US" sz="1400" dirty="0">
                <a:solidFill>
                  <a:schemeClr val="bg1"/>
                </a:solidFill>
                <a:latin typeface="Arial" panose="020B0604020202020204" pitchFamily="34" charset="0"/>
                <a:cs typeface="Arial" panose="020B0604020202020204" pitchFamily="34" charset="0"/>
              </a:rPr>
            </a:b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-- 7) scores</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CREATE TABLE scores (</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score_id</a:t>
            </a:r>
            <a:r>
              <a:rPr lang="en-US" sz="1400" dirty="0">
                <a:solidFill>
                  <a:schemeClr val="bg1"/>
                </a:solidFill>
                <a:latin typeface="Arial" panose="020B0604020202020204" pitchFamily="34" charset="0"/>
                <a:cs typeface="Arial" panose="020B0604020202020204" pitchFamily="34" charset="0"/>
              </a:rPr>
              <a:t> INT AUTO_INCREMENT PRIMARY KEY,</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user_id</a:t>
            </a:r>
            <a:r>
              <a:rPr lang="en-US" sz="1400" dirty="0">
                <a:solidFill>
                  <a:schemeClr val="bg1"/>
                </a:solidFill>
                <a:latin typeface="Arial" panose="020B0604020202020204" pitchFamily="34" charset="0"/>
                <a:cs typeface="Arial" panose="020B0604020202020204" pitchFamily="34" charset="0"/>
              </a:rPr>
              <a:t> INT NOT NULL,</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movie_id</a:t>
            </a:r>
            <a:r>
              <a:rPr lang="en-US" sz="1400" dirty="0">
                <a:solidFill>
                  <a:schemeClr val="bg1"/>
                </a:solidFill>
                <a:latin typeface="Arial" panose="020B0604020202020204" pitchFamily="34" charset="0"/>
                <a:cs typeface="Arial" panose="020B0604020202020204" pitchFamily="34" charset="0"/>
              </a:rPr>
              <a:t> INT NOT NULL,</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score INT NOT NULL,</a:t>
            </a:r>
            <a:br>
              <a:rPr lang="en-US" sz="1400" dirty="0">
                <a:solidFill>
                  <a:schemeClr val="bg1"/>
                </a:solidFill>
                <a:latin typeface="Arial" panose="020B0604020202020204" pitchFamily="34" charset="0"/>
                <a:cs typeface="Arial" panose="020B0604020202020204" pitchFamily="34" charset="0"/>
              </a:rPr>
            </a:br>
            <a:r>
              <a:rPr lang="en-US" sz="1400" dirty="0" err="1">
                <a:solidFill>
                  <a:schemeClr val="bg1"/>
                </a:solidFill>
                <a:latin typeface="Arial" panose="020B0604020202020204" pitchFamily="34" charset="0"/>
                <a:cs typeface="Arial" panose="020B0604020202020204" pitchFamily="34" charset="0"/>
              </a:rPr>
              <a:t>score_date</a:t>
            </a:r>
            <a:r>
              <a:rPr lang="en-US" sz="1400" dirty="0">
                <a:solidFill>
                  <a:schemeClr val="bg1"/>
                </a:solidFill>
                <a:latin typeface="Arial" panose="020B0604020202020204" pitchFamily="34" charset="0"/>
                <a:cs typeface="Arial" panose="020B0604020202020204" pitchFamily="34" charset="0"/>
              </a:rPr>
              <a:t> DATETIME NOT NULL DEFAULT CURRENT_TIMESTAMP,</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FOREIGN KEY (</a:t>
            </a:r>
            <a:r>
              <a:rPr lang="en-US" sz="1400" dirty="0" err="1">
                <a:solidFill>
                  <a:schemeClr val="bg1"/>
                </a:solidFill>
                <a:latin typeface="Arial" panose="020B0604020202020204" pitchFamily="34" charset="0"/>
                <a:cs typeface="Arial" panose="020B0604020202020204" pitchFamily="34" charset="0"/>
              </a:rPr>
              <a:t>user_id</a:t>
            </a:r>
            <a:r>
              <a:rPr lang="en-US" sz="1400" dirty="0">
                <a:solidFill>
                  <a:schemeClr val="bg1"/>
                </a:solidFill>
                <a:latin typeface="Arial" panose="020B0604020202020204" pitchFamily="34" charset="0"/>
                <a:cs typeface="Arial" panose="020B0604020202020204" pitchFamily="34" charset="0"/>
              </a:rPr>
              <a:t>) REFERENCES users(</a:t>
            </a:r>
            <a:r>
              <a:rPr lang="en-US" sz="1400" dirty="0" err="1">
                <a:solidFill>
                  <a:schemeClr val="bg1"/>
                </a:solidFill>
                <a:latin typeface="Arial" panose="020B0604020202020204" pitchFamily="34" charset="0"/>
                <a:cs typeface="Arial" panose="020B0604020202020204" pitchFamily="34" charset="0"/>
              </a:rPr>
              <a:t>user_id</a:t>
            </a:r>
            <a:r>
              <a:rPr lang="en-US" sz="1400" dirty="0">
                <a:solidFill>
                  <a:schemeClr val="bg1"/>
                </a:solidFill>
                <a:latin typeface="Arial" panose="020B0604020202020204" pitchFamily="34" charset="0"/>
                <a:cs typeface="Arial" panose="020B0604020202020204" pitchFamily="34" charset="0"/>
              </a:rPr>
              <a:t>) ON DELETE CASCADE,</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FOREIGN KEY (</a:t>
            </a:r>
            <a:r>
              <a:rPr lang="en-US" sz="1400" dirty="0" err="1">
                <a:solidFill>
                  <a:schemeClr val="bg1"/>
                </a:solidFill>
                <a:latin typeface="Arial" panose="020B0604020202020204" pitchFamily="34" charset="0"/>
                <a:cs typeface="Arial" panose="020B0604020202020204" pitchFamily="34" charset="0"/>
              </a:rPr>
              <a:t>movie_id</a:t>
            </a:r>
            <a:r>
              <a:rPr lang="en-US" sz="1400" dirty="0">
                <a:solidFill>
                  <a:schemeClr val="bg1"/>
                </a:solidFill>
                <a:latin typeface="Arial" panose="020B0604020202020204" pitchFamily="34" charset="0"/>
                <a:cs typeface="Arial" panose="020B0604020202020204" pitchFamily="34" charset="0"/>
              </a:rPr>
              <a:t>) REFERENCES movies(</a:t>
            </a:r>
            <a:r>
              <a:rPr lang="en-US" sz="1400" dirty="0" err="1">
                <a:solidFill>
                  <a:schemeClr val="bg1"/>
                </a:solidFill>
                <a:latin typeface="Arial" panose="020B0604020202020204" pitchFamily="34" charset="0"/>
                <a:cs typeface="Arial" panose="020B0604020202020204" pitchFamily="34" charset="0"/>
              </a:rPr>
              <a:t>movie_id</a:t>
            </a:r>
            <a:r>
              <a:rPr lang="en-US" sz="1400" dirty="0">
                <a:solidFill>
                  <a:schemeClr val="bg1"/>
                </a:solidFill>
                <a:latin typeface="Arial" panose="020B0604020202020204" pitchFamily="34" charset="0"/>
                <a:cs typeface="Arial" panose="020B0604020202020204" pitchFamily="34" charset="0"/>
              </a:rPr>
              <a:t>) ON DELETE CASCADE,</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UNIQUE KEY </a:t>
            </a:r>
            <a:r>
              <a:rPr lang="en-US" sz="1400" dirty="0" err="1">
                <a:solidFill>
                  <a:schemeClr val="bg1"/>
                </a:solidFill>
                <a:latin typeface="Arial" panose="020B0604020202020204" pitchFamily="34" charset="0"/>
                <a:cs typeface="Arial" panose="020B0604020202020204" pitchFamily="34" charset="0"/>
              </a:rPr>
              <a:t>uq_user_movie</a:t>
            </a:r>
            <a:r>
              <a:rPr lang="en-US" sz="1400" dirty="0">
                <a:solidFill>
                  <a:schemeClr val="bg1"/>
                </a:solidFill>
                <a:latin typeface="Arial" panose="020B0604020202020204" pitchFamily="34" charset="0"/>
                <a:cs typeface="Arial" panose="020B0604020202020204" pitchFamily="34" charset="0"/>
              </a:rPr>
              <a:t> (</a:t>
            </a:r>
            <a:r>
              <a:rPr lang="en-US" sz="1400" dirty="0" err="1">
                <a:solidFill>
                  <a:schemeClr val="bg1"/>
                </a:solidFill>
                <a:latin typeface="Arial" panose="020B0604020202020204" pitchFamily="34" charset="0"/>
                <a:cs typeface="Arial" panose="020B0604020202020204" pitchFamily="34" charset="0"/>
              </a:rPr>
              <a:t>user_id</a:t>
            </a:r>
            <a:r>
              <a:rPr lang="en-US" sz="1400" dirty="0">
                <a:solidFill>
                  <a:schemeClr val="bg1"/>
                </a:solidFill>
                <a:latin typeface="Arial" panose="020B0604020202020204" pitchFamily="34" charset="0"/>
                <a:cs typeface="Arial" panose="020B0604020202020204" pitchFamily="34" charset="0"/>
              </a:rPr>
              <a:t>, </a:t>
            </a:r>
            <a:r>
              <a:rPr lang="en-US" sz="1400" dirty="0" err="1">
                <a:solidFill>
                  <a:schemeClr val="bg1"/>
                </a:solidFill>
                <a:latin typeface="Arial" panose="020B0604020202020204" pitchFamily="34" charset="0"/>
                <a:cs typeface="Arial" panose="020B0604020202020204" pitchFamily="34" charset="0"/>
              </a:rPr>
              <a:t>movie_id</a:t>
            </a:r>
            <a:r>
              <a:rPr lang="en-US" sz="1400" dirty="0">
                <a:solidFill>
                  <a:schemeClr val="bg1"/>
                </a:solidFill>
                <a:latin typeface="Arial" panose="020B0604020202020204" pitchFamily="34" charset="0"/>
                <a:cs typeface="Arial" panose="020B0604020202020204" pitchFamily="34" charset="0"/>
              </a:rPr>
              <a:t>)</a:t>
            </a:r>
            <a:br>
              <a:rPr lang="en-US" sz="1400" dirty="0">
                <a:solidFill>
                  <a:schemeClr val="bg1"/>
                </a:solidFill>
                <a:latin typeface="Arial" panose="020B0604020202020204" pitchFamily="34" charset="0"/>
                <a:cs typeface="Arial" panose="020B0604020202020204" pitchFamily="34" charset="0"/>
              </a:rPr>
            </a:br>
            <a:r>
              <a:rPr lang="en-US" sz="1400" dirty="0">
                <a:solidFill>
                  <a:schemeClr val="bg1"/>
                </a:solidFill>
                <a:latin typeface="Arial" panose="020B0604020202020204" pitchFamily="34" charset="0"/>
                <a:cs typeface="Arial" panose="020B0604020202020204" pitchFamily="34" charset="0"/>
              </a:rPr>
              <a:t>);</a:t>
            </a:r>
          </a:p>
        </p:txBody>
      </p:sp>
      <p:sp>
        <p:nvSpPr>
          <p:cNvPr id="4" name="Title 1">
            <a:extLst>
              <a:ext uri="{FF2B5EF4-FFF2-40B4-BE49-F238E27FC236}">
                <a16:creationId xmlns:a16="http://schemas.microsoft.com/office/drawing/2014/main" id="{0E3A5762-2A6C-432B-A657-E5CF579DC04B}"/>
              </a:ext>
            </a:extLst>
          </p:cNvPr>
          <p:cNvSpPr>
            <a:spLocks noGrp="1"/>
          </p:cNvSpPr>
          <p:nvPr>
            <p:ph type="title"/>
          </p:nvPr>
        </p:nvSpPr>
        <p:spPr>
          <a:xfrm>
            <a:off x="0" y="0"/>
            <a:ext cx="12192000" cy="660400"/>
          </a:xfrm>
        </p:spPr>
        <p:style>
          <a:lnRef idx="3">
            <a:schemeClr val="lt1"/>
          </a:lnRef>
          <a:fillRef idx="1">
            <a:schemeClr val="accent1"/>
          </a:fillRef>
          <a:effectRef idx="1">
            <a:schemeClr val="accent1"/>
          </a:effectRef>
          <a:fontRef idx="minor">
            <a:schemeClr val="lt1"/>
          </a:fontRef>
        </p:style>
        <p:txBody>
          <a:bodyPr>
            <a:normAutofit/>
          </a:bodyPr>
          <a:lstStyle/>
          <a:p>
            <a:pPr algn="ctr"/>
            <a:r>
              <a:rPr lang="en-US" sz="3600" dirty="0"/>
              <a:t>SQL</a:t>
            </a:r>
          </a:p>
        </p:txBody>
      </p:sp>
      <p:sp>
        <p:nvSpPr>
          <p:cNvPr id="5" name="Content Placeholder 2">
            <a:extLst>
              <a:ext uri="{FF2B5EF4-FFF2-40B4-BE49-F238E27FC236}">
                <a16:creationId xmlns:a16="http://schemas.microsoft.com/office/drawing/2014/main" id="{C25C7A97-B3ED-4D68-8A8D-47B21F6F86ED}"/>
              </a:ext>
            </a:extLst>
          </p:cNvPr>
          <p:cNvSpPr txBox="1">
            <a:spLocks/>
          </p:cNvSpPr>
          <p:nvPr/>
        </p:nvSpPr>
        <p:spPr>
          <a:xfrm>
            <a:off x="0" y="660400"/>
            <a:ext cx="5995358" cy="6197600"/>
          </a:xfrm>
          <a:prstGeom prst="rect">
            <a:avLst/>
          </a:prstGeom>
          <a:solidFill>
            <a:srgbClr val="092471"/>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solidFill>
                  <a:schemeClr val="bg1"/>
                </a:solidFill>
                <a:latin typeface="Arial" panose="020B0604020202020204" pitchFamily="34" charset="0"/>
                <a:cs typeface="Arial" panose="020B0604020202020204" pitchFamily="34" charset="0"/>
              </a:rPr>
              <a:t>-- </a:t>
            </a:r>
            <a:r>
              <a:rPr lang="en-US" sz="1200" dirty="0" err="1">
                <a:solidFill>
                  <a:schemeClr val="bg1"/>
                </a:solidFill>
                <a:latin typeface="Arial" panose="020B0604020202020204" pitchFamily="34" charset="0"/>
                <a:cs typeface="Arial" panose="020B0604020202020204" pitchFamily="34" charset="0"/>
              </a:rPr>
              <a:t>init.sql</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CREATE DATABASE IF NOT EXISTS </a:t>
            </a:r>
            <a:r>
              <a:rPr lang="en-US" sz="1200" dirty="0" err="1">
                <a:solidFill>
                  <a:schemeClr val="bg1"/>
                </a:solidFill>
                <a:latin typeface="Arial" panose="020B0604020202020204" pitchFamily="34" charset="0"/>
                <a:cs typeface="Arial" panose="020B0604020202020204" pitchFamily="34" charset="0"/>
              </a:rPr>
              <a:t>cinemalast</a:t>
            </a:r>
            <a:r>
              <a:rPr lang="en-US" sz="1200" dirty="0">
                <a:solidFill>
                  <a:schemeClr val="bg1"/>
                </a:solidFill>
                <a:latin typeface="Arial" panose="020B0604020202020204" pitchFamily="34" charset="0"/>
                <a:cs typeface="Arial" panose="020B0604020202020204" pitchFamily="34" charset="0"/>
              </a:rPr>
              <a:t>;</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USE </a:t>
            </a:r>
            <a:r>
              <a:rPr lang="en-US" sz="1200" dirty="0" err="1">
                <a:solidFill>
                  <a:schemeClr val="bg1"/>
                </a:solidFill>
                <a:latin typeface="Arial" panose="020B0604020202020204" pitchFamily="34" charset="0"/>
                <a:cs typeface="Arial" panose="020B0604020202020204" pitchFamily="34" charset="0"/>
              </a:rPr>
              <a:t>cinemalast</a:t>
            </a:r>
            <a:r>
              <a:rPr lang="en-US" sz="1200" dirty="0">
                <a:solidFill>
                  <a:schemeClr val="bg1"/>
                </a:solidFill>
                <a:latin typeface="Arial" panose="020B0604020202020204" pitchFamily="34" charset="0"/>
                <a:cs typeface="Arial" panose="020B0604020202020204" pitchFamily="34" charset="0"/>
              </a:rPr>
              <a:t>;</a:t>
            </a:r>
            <a:br>
              <a:rPr lang="en-US" sz="1200" dirty="0">
                <a:solidFill>
                  <a:schemeClr val="bg1"/>
                </a:solidFill>
                <a:latin typeface="Arial" panose="020B0604020202020204" pitchFamily="34" charset="0"/>
                <a:cs typeface="Arial" panose="020B0604020202020204" pitchFamily="34" charset="0"/>
              </a:rPr>
            </a:b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-- 1) users</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CREATE TABLE users (</a:t>
            </a:r>
            <a:br>
              <a:rPr lang="en-US" sz="1200" dirty="0">
                <a:solidFill>
                  <a:schemeClr val="bg1"/>
                </a:solidFill>
                <a:latin typeface="Arial" panose="020B0604020202020204" pitchFamily="34" charset="0"/>
                <a:cs typeface="Arial" panose="020B0604020202020204" pitchFamily="34" charset="0"/>
              </a:rPr>
            </a:br>
            <a:r>
              <a:rPr lang="en-US" sz="1200" dirty="0" err="1">
                <a:solidFill>
                  <a:schemeClr val="bg1"/>
                </a:solidFill>
                <a:latin typeface="Arial" panose="020B0604020202020204" pitchFamily="34" charset="0"/>
                <a:cs typeface="Arial" panose="020B0604020202020204" pitchFamily="34" charset="0"/>
              </a:rPr>
              <a:t>user_id</a:t>
            </a:r>
            <a:r>
              <a:rPr lang="en-US" sz="1200" dirty="0">
                <a:solidFill>
                  <a:schemeClr val="bg1"/>
                </a:solidFill>
                <a:latin typeface="Arial" panose="020B0604020202020204" pitchFamily="34" charset="0"/>
                <a:cs typeface="Arial" panose="020B0604020202020204" pitchFamily="34" charset="0"/>
              </a:rPr>
              <a:t> INT AUTO_INCREMENT PRIMARY KEY,</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name VARCHAR(100) NOT NULL,</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phone VARCHAR(30),</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email VARCHAR(150) NOT NULL UNIQUE,</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password VARCHAR(255) NOT NULL,</a:t>
            </a:r>
            <a:br>
              <a:rPr lang="en-US" sz="1200" dirty="0">
                <a:solidFill>
                  <a:schemeClr val="bg1"/>
                </a:solidFill>
                <a:latin typeface="Arial" panose="020B0604020202020204" pitchFamily="34" charset="0"/>
                <a:cs typeface="Arial" panose="020B0604020202020204" pitchFamily="34" charset="0"/>
              </a:rPr>
            </a:br>
            <a:r>
              <a:rPr lang="en-US" sz="1200" dirty="0" err="1">
                <a:solidFill>
                  <a:schemeClr val="bg1"/>
                </a:solidFill>
                <a:latin typeface="Arial" panose="020B0604020202020204" pitchFamily="34" charset="0"/>
                <a:cs typeface="Arial" panose="020B0604020202020204" pitchFamily="34" charset="0"/>
              </a:rPr>
              <a:t>is_approved</a:t>
            </a:r>
            <a:r>
              <a:rPr lang="en-US" sz="1200" dirty="0">
                <a:solidFill>
                  <a:schemeClr val="bg1"/>
                </a:solidFill>
                <a:latin typeface="Arial" panose="020B0604020202020204" pitchFamily="34" charset="0"/>
                <a:cs typeface="Arial" panose="020B0604020202020204" pitchFamily="34" charset="0"/>
              </a:rPr>
              <a:t> TINYINT(1) NOT NULL DEFAULT 0</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a:t>
            </a:r>
            <a:br>
              <a:rPr lang="en-US" sz="1200" dirty="0">
                <a:solidFill>
                  <a:schemeClr val="bg1"/>
                </a:solidFill>
                <a:latin typeface="Arial" panose="020B0604020202020204" pitchFamily="34" charset="0"/>
                <a:cs typeface="Arial" panose="020B0604020202020204" pitchFamily="34" charset="0"/>
              </a:rPr>
            </a:b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-- 2) manager (single account)</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CREATE TABLE manager (</a:t>
            </a:r>
            <a:br>
              <a:rPr lang="en-US" sz="1200" dirty="0">
                <a:solidFill>
                  <a:schemeClr val="bg1"/>
                </a:solidFill>
                <a:latin typeface="Arial" panose="020B0604020202020204" pitchFamily="34" charset="0"/>
                <a:cs typeface="Arial" panose="020B0604020202020204" pitchFamily="34" charset="0"/>
              </a:rPr>
            </a:br>
            <a:r>
              <a:rPr lang="en-US" sz="1200" dirty="0" err="1">
                <a:solidFill>
                  <a:schemeClr val="bg1"/>
                </a:solidFill>
                <a:latin typeface="Arial" panose="020B0604020202020204" pitchFamily="34" charset="0"/>
                <a:cs typeface="Arial" panose="020B0604020202020204" pitchFamily="34" charset="0"/>
              </a:rPr>
              <a:t>manager_id</a:t>
            </a:r>
            <a:r>
              <a:rPr lang="en-US" sz="1200" dirty="0">
                <a:solidFill>
                  <a:schemeClr val="bg1"/>
                </a:solidFill>
                <a:latin typeface="Arial" panose="020B0604020202020204" pitchFamily="34" charset="0"/>
                <a:cs typeface="Arial" panose="020B0604020202020204" pitchFamily="34" charset="0"/>
              </a:rPr>
              <a:t> INT AUTO_INCREMENT PRIMARY KEY,</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name VARCHAR(100) NOT NULL,</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email VARCHAR(150) NOT NULL UNIQUE,</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password VARCHAR(255) NOT NULL</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a:t>
            </a:r>
            <a:br>
              <a:rPr lang="en-US" sz="1200" dirty="0">
                <a:solidFill>
                  <a:schemeClr val="bg1"/>
                </a:solidFill>
                <a:latin typeface="Arial" panose="020B0604020202020204" pitchFamily="34" charset="0"/>
                <a:cs typeface="Arial" panose="020B0604020202020204" pitchFamily="34" charset="0"/>
              </a:rPr>
            </a:b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-- 3) theaters</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CREATE TABLE theaters (</a:t>
            </a:r>
            <a:br>
              <a:rPr lang="en-US" sz="1200" dirty="0">
                <a:solidFill>
                  <a:schemeClr val="bg1"/>
                </a:solidFill>
                <a:latin typeface="Arial" panose="020B0604020202020204" pitchFamily="34" charset="0"/>
                <a:cs typeface="Arial" panose="020B0604020202020204" pitchFamily="34" charset="0"/>
              </a:rPr>
            </a:br>
            <a:r>
              <a:rPr lang="en-US" sz="1200" dirty="0" err="1">
                <a:solidFill>
                  <a:schemeClr val="bg1"/>
                </a:solidFill>
                <a:latin typeface="Arial" panose="020B0604020202020204" pitchFamily="34" charset="0"/>
                <a:cs typeface="Arial" panose="020B0604020202020204" pitchFamily="34" charset="0"/>
              </a:rPr>
              <a:t>theater_id</a:t>
            </a:r>
            <a:r>
              <a:rPr lang="en-US" sz="1200" dirty="0">
                <a:solidFill>
                  <a:schemeClr val="bg1"/>
                </a:solidFill>
                <a:latin typeface="Arial" panose="020B0604020202020204" pitchFamily="34" charset="0"/>
                <a:cs typeface="Arial" panose="020B0604020202020204" pitchFamily="34" charset="0"/>
              </a:rPr>
              <a:t> INT AUTO_INCREMENT PRIMARY KEY,</a:t>
            </a:r>
            <a:br>
              <a:rPr lang="en-US" sz="1200" dirty="0">
                <a:solidFill>
                  <a:schemeClr val="bg1"/>
                </a:solidFill>
                <a:latin typeface="Arial" panose="020B0604020202020204" pitchFamily="34" charset="0"/>
                <a:cs typeface="Arial" panose="020B0604020202020204" pitchFamily="34" charset="0"/>
              </a:rPr>
            </a:br>
            <a:r>
              <a:rPr lang="en-US" sz="1200" dirty="0" err="1">
                <a:solidFill>
                  <a:schemeClr val="bg1"/>
                </a:solidFill>
                <a:latin typeface="Arial" panose="020B0604020202020204" pitchFamily="34" charset="0"/>
                <a:cs typeface="Arial" panose="020B0604020202020204" pitchFamily="34" charset="0"/>
              </a:rPr>
              <a:t>theater_number</a:t>
            </a:r>
            <a:r>
              <a:rPr lang="en-US" sz="1200" dirty="0">
                <a:solidFill>
                  <a:schemeClr val="bg1"/>
                </a:solidFill>
                <a:latin typeface="Arial" panose="020B0604020202020204" pitchFamily="34" charset="0"/>
                <a:cs typeface="Arial" panose="020B0604020202020204" pitchFamily="34" charset="0"/>
              </a:rPr>
              <a:t> VARCHAR(50) NOT NULL,</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location VARCHAR(255) NOT NULL</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a:t>
            </a:r>
            <a:br>
              <a:rPr lang="en-US" sz="1200" dirty="0">
                <a:solidFill>
                  <a:schemeClr val="bg1"/>
                </a:solidFill>
                <a:latin typeface="Arial" panose="020B0604020202020204" pitchFamily="34" charset="0"/>
                <a:cs typeface="Arial" panose="020B0604020202020204" pitchFamily="34" charset="0"/>
              </a:rPr>
            </a:b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-- 4) movies</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CREATE TABLE movies (</a:t>
            </a:r>
            <a:br>
              <a:rPr lang="en-US" sz="1200" dirty="0">
                <a:solidFill>
                  <a:schemeClr val="bg1"/>
                </a:solidFill>
                <a:latin typeface="Arial" panose="020B0604020202020204" pitchFamily="34" charset="0"/>
                <a:cs typeface="Arial" panose="020B0604020202020204" pitchFamily="34" charset="0"/>
              </a:rPr>
            </a:br>
            <a:r>
              <a:rPr lang="en-US" sz="1200" dirty="0" err="1">
                <a:solidFill>
                  <a:schemeClr val="bg1"/>
                </a:solidFill>
                <a:latin typeface="Arial" panose="020B0604020202020204" pitchFamily="34" charset="0"/>
                <a:cs typeface="Arial" panose="020B0604020202020204" pitchFamily="34" charset="0"/>
              </a:rPr>
              <a:t>movie_id</a:t>
            </a:r>
            <a:r>
              <a:rPr lang="en-US" sz="1200" dirty="0">
                <a:solidFill>
                  <a:schemeClr val="bg1"/>
                </a:solidFill>
                <a:latin typeface="Arial" panose="020B0604020202020204" pitchFamily="34" charset="0"/>
                <a:cs typeface="Arial" panose="020B0604020202020204" pitchFamily="34" charset="0"/>
              </a:rPr>
              <a:t> INT AUTO_INCREMENT PRIMARY KEY,</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title VARCHAR(255) NOT NULL,</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showtime DATETIME NOT NULL,</a:t>
            </a:r>
            <a:br>
              <a:rPr lang="en-US" sz="1200" dirty="0">
                <a:solidFill>
                  <a:schemeClr val="bg1"/>
                </a:solidFill>
                <a:latin typeface="Arial" panose="020B0604020202020204" pitchFamily="34" charset="0"/>
                <a:cs typeface="Arial" panose="020B0604020202020204" pitchFamily="34" charset="0"/>
              </a:rPr>
            </a:br>
            <a:r>
              <a:rPr lang="en-US" sz="1200" dirty="0" err="1">
                <a:solidFill>
                  <a:schemeClr val="bg1"/>
                </a:solidFill>
                <a:latin typeface="Arial" panose="020B0604020202020204" pitchFamily="34" charset="0"/>
                <a:cs typeface="Arial" panose="020B0604020202020204" pitchFamily="34" charset="0"/>
              </a:rPr>
              <a:t>release_date</a:t>
            </a:r>
            <a:r>
              <a:rPr lang="en-US" sz="1200" dirty="0">
                <a:solidFill>
                  <a:schemeClr val="bg1"/>
                </a:solidFill>
                <a:latin typeface="Arial" panose="020B0604020202020204" pitchFamily="34" charset="0"/>
                <a:cs typeface="Arial" panose="020B0604020202020204" pitchFamily="34" charset="0"/>
              </a:rPr>
              <a:t> DATE,</a:t>
            </a:r>
            <a:br>
              <a:rPr lang="en-US" sz="1200" dirty="0">
                <a:solidFill>
                  <a:schemeClr val="bg1"/>
                </a:solidFill>
                <a:latin typeface="Arial" panose="020B0604020202020204" pitchFamily="34" charset="0"/>
                <a:cs typeface="Arial" panose="020B0604020202020204" pitchFamily="34" charset="0"/>
              </a:rPr>
            </a:br>
            <a:r>
              <a:rPr lang="en-US" sz="1200" dirty="0" err="1">
                <a:solidFill>
                  <a:schemeClr val="bg1"/>
                </a:solidFill>
                <a:latin typeface="Arial" panose="020B0604020202020204" pitchFamily="34" charset="0"/>
                <a:cs typeface="Arial" panose="020B0604020202020204" pitchFamily="34" charset="0"/>
              </a:rPr>
              <a:t>price_per_seat</a:t>
            </a:r>
            <a:r>
              <a:rPr lang="en-US" sz="1200" dirty="0">
                <a:solidFill>
                  <a:schemeClr val="bg1"/>
                </a:solidFill>
                <a:latin typeface="Arial" panose="020B0604020202020204" pitchFamily="34" charset="0"/>
                <a:cs typeface="Arial" panose="020B0604020202020204" pitchFamily="34" charset="0"/>
              </a:rPr>
              <a:t> DECIMAL(8,2) NOT NULL DEFAULT 0.00,</a:t>
            </a:r>
            <a:br>
              <a:rPr lang="en-US" sz="1200" dirty="0">
                <a:solidFill>
                  <a:schemeClr val="bg1"/>
                </a:solidFill>
                <a:latin typeface="Arial" panose="020B0604020202020204" pitchFamily="34" charset="0"/>
                <a:cs typeface="Arial" panose="020B0604020202020204" pitchFamily="34" charset="0"/>
              </a:rPr>
            </a:br>
            <a:r>
              <a:rPr lang="en-US" sz="1200" dirty="0" err="1">
                <a:solidFill>
                  <a:schemeClr val="bg1"/>
                </a:solidFill>
                <a:latin typeface="Arial" panose="020B0604020202020204" pitchFamily="34" charset="0"/>
                <a:cs typeface="Arial" panose="020B0604020202020204" pitchFamily="34" charset="0"/>
              </a:rPr>
              <a:t>total_seats</a:t>
            </a:r>
            <a:r>
              <a:rPr lang="en-US" sz="1200" dirty="0">
                <a:solidFill>
                  <a:schemeClr val="bg1"/>
                </a:solidFill>
                <a:latin typeface="Arial" panose="020B0604020202020204" pitchFamily="34" charset="0"/>
                <a:cs typeface="Arial" panose="020B0604020202020204" pitchFamily="34" charset="0"/>
              </a:rPr>
              <a:t> INT NOT NULL DEFAULT 0,</a:t>
            </a:r>
            <a:br>
              <a:rPr lang="en-US" sz="1200" dirty="0">
                <a:solidFill>
                  <a:schemeClr val="bg1"/>
                </a:solidFill>
                <a:latin typeface="Arial" panose="020B0604020202020204" pitchFamily="34" charset="0"/>
                <a:cs typeface="Arial" panose="020B0604020202020204" pitchFamily="34" charset="0"/>
              </a:rPr>
            </a:br>
            <a:r>
              <a:rPr lang="en-US" sz="1200" dirty="0" err="1">
                <a:solidFill>
                  <a:schemeClr val="bg1"/>
                </a:solidFill>
                <a:latin typeface="Arial" panose="020B0604020202020204" pitchFamily="34" charset="0"/>
                <a:cs typeface="Arial" panose="020B0604020202020204" pitchFamily="34" charset="0"/>
              </a:rPr>
              <a:t>theater_id</a:t>
            </a:r>
            <a:r>
              <a:rPr lang="en-US" sz="1200" dirty="0">
                <a:solidFill>
                  <a:schemeClr val="bg1"/>
                </a:solidFill>
                <a:latin typeface="Arial" panose="020B0604020202020204" pitchFamily="34" charset="0"/>
                <a:cs typeface="Arial" panose="020B0604020202020204" pitchFamily="34" charset="0"/>
              </a:rPr>
              <a:t> INT NOT NULL,</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genre VARCHAR(100),</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duration VARCHAR(50),</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FOREIGN KEY (</a:t>
            </a:r>
            <a:r>
              <a:rPr lang="en-US" sz="1200" dirty="0" err="1">
                <a:solidFill>
                  <a:schemeClr val="bg1"/>
                </a:solidFill>
                <a:latin typeface="Arial" panose="020B0604020202020204" pitchFamily="34" charset="0"/>
                <a:cs typeface="Arial" panose="020B0604020202020204" pitchFamily="34" charset="0"/>
              </a:rPr>
              <a:t>theater_id</a:t>
            </a:r>
            <a:r>
              <a:rPr lang="en-US" sz="1200" dirty="0">
                <a:solidFill>
                  <a:schemeClr val="bg1"/>
                </a:solidFill>
                <a:latin typeface="Arial" panose="020B0604020202020204" pitchFamily="34" charset="0"/>
                <a:cs typeface="Arial" panose="020B0604020202020204" pitchFamily="34" charset="0"/>
              </a:rPr>
              <a:t>) REFERENCES theaters(</a:t>
            </a:r>
            <a:r>
              <a:rPr lang="en-US" sz="1200" dirty="0" err="1">
                <a:solidFill>
                  <a:schemeClr val="bg1"/>
                </a:solidFill>
                <a:latin typeface="Arial" panose="020B0604020202020204" pitchFamily="34" charset="0"/>
                <a:cs typeface="Arial" panose="020B0604020202020204" pitchFamily="34" charset="0"/>
              </a:rPr>
              <a:t>theater_id</a:t>
            </a:r>
            <a:r>
              <a:rPr lang="en-US" sz="1200" dirty="0">
                <a:solidFill>
                  <a:schemeClr val="bg1"/>
                </a:solidFill>
                <a:latin typeface="Arial" panose="020B0604020202020204" pitchFamily="34" charset="0"/>
                <a:cs typeface="Arial" panose="020B0604020202020204" pitchFamily="34" charset="0"/>
              </a:rPr>
              <a:t>) ON DELETE CASCADE</a:t>
            </a:r>
            <a:br>
              <a:rPr lang="en-US" sz="1200" dirty="0">
                <a:solidFill>
                  <a:schemeClr val="bg1"/>
                </a:solidFill>
                <a:latin typeface="Arial" panose="020B0604020202020204" pitchFamily="34" charset="0"/>
                <a:cs typeface="Arial" panose="020B0604020202020204" pitchFamily="34" charset="0"/>
              </a:rPr>
            </a:br>
            <a:r>
              <a:rPr lang="en-US" sz="12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054305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1F4E1F8-FC1E-47FD-BB35-C8583D89E006}"/>
              </a:ext>
            </a:extLst>
          </p:cNvPr>
          <p:cNvSpPr>
            <a:spLocks noGrp="1"/>
          </p:cNvSpPr>
          <p:nvPr>
            <p:ph type="title"/>
          </p:nvPr>
        </p:nvSpPr>
        <p:spPr>
          <a:xfrm>
            <a:off x="0" y="0"/>
            <a:ext cx="12192000" cy="6858000"/>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17900" dirty="0"/>
              <a:t>FEATURES</a:t>
            </a:r>
          </a:p>
        </p:txBody>
      </p:sp>
    </p:spTree>
    <p:extLst>
      <p:ext uri="{BB962C8B-B14F-4D97-AF65-F5344CB8AC3E}">
        <p14:creationId xmlns:p14="http://schemas.microsoft.com/office/powerpoint/2010/main" val="1980452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28F9B70-38EA-4733-93D4-82A828010A6D}"/>
              </a:ext>
            </a:extLst>
          </p:cNvPr>
          <p:cNvSpPr>
            <a:spLocks noGrp="1" noChangeArrowheads="1"/>
          </p:cNvSpPr>
          <p:nvPr>
            <p:ph idx="1"/>
          </p:nvPr>
        </p:nvSpPr>
        <p:spPr bwMode="auto">
          <a:xfrm>
            <a:off x="103909" y="584811"/>
            <a:ext cx="6267525"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sng" strike="noStrike" cap="none" normalizeH="0" baseline="0" dirty="0">
                <a:ln>
                  <a:noFill/>
                </a:ln>
                <a:solidFill>
                  <a:schemeClr val="tx1"/>
                </a:solidFill>
                <a:effectLst/>
                <a:latin typeface="Arial" panose="020B0604020202020204" pitchFamily="34" charset="0"/>
              </a:rPr>
              <a:t>Booking seats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Only one request can modify the seat count for a movie at a time.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Mechanics: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Start a transaction.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Lock the movie row with </a:t>
            </a: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SELECT </a:t>
            </a:r>
            <a:r>
              <a:rPr kumimoji="0" lang="en-US" altLang="en-US" sz="16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total_seats</a:t>
            </a: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FROM movies WHERE </a:t>
            </a:r>
            <a:r>
              <a:rPr kumimoji="0" lang="en-US" altLang="en-US" sz="16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movie_id</a:t>
            </a: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 ? FOR UPDATE</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sz="36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Re-read available seats while the row is locked.</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Reject if seats are insufficient.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chemeClr val="tx1"/>
                </a:solidFill>
                <a:effectLst/>
                <a:latin typeface="Arial" panose="020B0604020202020204" pitchFamily="34" charset="0"/>
              </a:rPr>
              <a:t>Insert booking.</a:t>
            </a: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dirty="0">
                <a:ln>
                  <a:noFill/>
                </a:ln>
                <a:solidFill>
                  <a:schemeClr val="tx1"/>
                </a:solidFill>
                <a:effectLst/>
                <a:latin typeface="Arial" panose="020B0604020202020204" pitchFamily="34" charset="0"/>
              </a:rPr>
              <a:t>Decrement seats.</a:t>
            </a:r>
          </a:p>
          <a:p>
            <a:pPr marL="0" marR="0" lvl="0" indent="0" algn="l" defTabSz="914400" rtl="0" eaLnBrk="0" fontAlgn="base" latinLnBrk="0" hangingPunct="0">
              <a:lnSpc>
                <a:spcPct val="100000"/>
              </a:lnSpc>
              <a:spcBef>
                <a:spcPct val="0"/>
              </a:spcBef>
              <a:spcAft>
                <a:spcPct val="0"/>
              </a:spcAft>
              <a:buClrTx/>
              <a:buSzTx/>
              <a:buFontTx/>
              <a:buAutoNum type="arabicPeriod" startAt="7"/>
              <a:tabLst/>
            </a:pPr>
            <a:r>
              <a:rPr kumimoji="0" lang="en-US" altLang="en-US" sz="1800" b="0" i="0" u="none" strike="noStrike" cap="none" normalizeH="0" baseline="0" dirty="0">
                <a:ln>
                  <a:noFill/>
                </a:ln>
                <a:solidFill>
                  <a:schemeClr val="tx1"/>
                </a:solidFill>
                <a:effectLst/>
                <a:latin typeface="Arial" panose="020B0604020202020204" pitchFamily="34" charset="0"/>
              </a:rPr>
              <a:t>Commit.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Effect: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Two users pressing “Book” at the same moment cannot both get the same seats because the first transaction locks the row. The second waits until the lock is released. After the lock is released, the second sees updated seat count and will fail if capacity is gone.</a:t>
            </a:r>
          </a:p>
        </p:txBody>
      </p:sp>
      <p:pic>
        <p:nvPicPr>
          <p:cNvPr id="6" name="Picture 5">
            <a:extLst>
              <a:ext uri="{FF2B5EF4-FFF2-40B4-BE49-F238E27FC236}">
                <a16:creationId xmlns:a16="http://schemas.microsoft.com/office/drawing/2014/main" id="{4DFC6241-1331-4165-A788-C7E99A6A9EE6}"/>
              </a:ext>
            </a:extLst>
          </p:cNvPr>
          <p:cNvPicPr>
            <a:picLocks noChangeAspect="1"/>
          </p:cNvPicPr>
          <p:nvPr/>
        </p:nvPicPr>
        <p:blipFill rotWithShape="1">
          <a:blip r:embed="rId2">
            <a:extLst>
              <a:ext uri="{28A0092B-C50C-407E-A947-70E740481C1C}">
                <a14:useLocalDpi xmlns:a14="http://schemas.microsoft.com/office/drawing/2010/main" val="0"/>
              </a:ext>
            </a:extLst>
          </a:blip>
          <a:srcRect l="16710" t="16941" r="15214" b="30813"/>
          <a:stretch/>
        </p:blipFill>
        <p:spPr>
          <a:xfrm>
            <a:off x="6371434" y="584811"/>
            <a:ext cx="5557330" cy="4214555"/>
          </a:xfrm>
          <a:prstGeom prst="rect">
            <a:avLst/>
          </a:prstGeom>
        </p:spPr>
      </p:pic>
      <p:sp>
        <p:nvSpPr>
          <p:cNvPr id="5" name="Title 1">
            <a:extLst>
              <a:ext uri="{FF2B5EF4-FFF2-40B4-BE49-F238E27FC236}">
                <a16:creationId xmlns:a16="http://schemas.microsoft.com/office/drawing/2014/main" id="{BA6D5358-98BB-45AE-A075-1503E4A3344D}"/>
              </a:ext>
            </a:extLst>
          </p:cNvPr>
          <p:cNvSpPr>
            <a:spLocks noGrp="1"/>
          </p:cNvSpPr>
          <p:nvPr>
            <p:ph type="title"/>
          </p:nvPr>
        </p:nvSpPr>
        <p:spPr>
          <a:xfrm>
            <a:off x="0" y="0"/>
            <a:ext cx="12192000" cy="584811"/>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2800" dirty="0"/>
              <a:t>Booking Seats</a:t>
            </a:r>
          </a:p>
        </p:txBody>
      </p:sp>
    </p:spTree>
    <p:extLst>
      <p:ext uri="{BB962C8B-B14F-4D97-AF65-F5344CB8AC3E}">
        <p14:creationId xmlns:p14="http://schemas.microsoft.com/office/powerpoint/2010/main" val="3078857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201C54-2843-4628-A8C9-455A413269D0}"/>
              </a:ext>
            </a:extLst>
          </p:cNvPr>
          <p:cNvSpPr>
            <a:spLocks noGrp="1"/>
          </p:cNvSpPr>
          <p:nvPr>
            <p:ph idx="1"/>
          </p:nvPr>
        </p:nvSpPr>
        <p:spPr>
          <a:xfrm>
            <a:off x="-1" y="695565"/>
            <a:ext cx="12111487" cy="3071004"/>
          </a:xfrm>
        </p:spPr>
        <p:txBody>
          <a:bodyPr>
            <a:normAutofit/>
          </a:bodyPr>
          <a:lstStyle/>
          <a:p>
            <a:pPr marL="0" indent="0">
              <a:buNone/>
            </a:pPr>
            <a:r>
              <a:rPr lang="en-US" sz="1800" b="1" dirty="0"/>
              <a:t>Prepared statements separate code from data. This removes the ability for user input to change the query structure</a:t>
            </a:r>
            <a:r>
              <a:rPr lang="en-US" sz="1800" dirty="0"/>
              <a:t>.</a:t>
            </a:r>
            <a:br>
              <a:rPr lang="en-US" sz="1800" dirty="0"/>
            </a:br>
            <a:r>
              <a:rPr lang="en-US" sz="1800" i="1" dirty="0"/>
              <a:t>1.Write a fixed SQL template with placeholders.</a:t>
            </a:r>
            <a:br>
              <a:rPr lang="en-US" sz="1800" i="1" dirty="0"/>
            </a:br>
            <a:r>
              <a:rPr lang="en-US" sz="1800" i="1" dirty="0"/>
              <a:t>2.Bind user input as typed parameters.</a:t>
            </a:r>
            <a:br>
              <a:rPr lang="en-US" sz="1800" i="1" dirty="0"/>
            </a:br>
            <a:r>
              <a:rPr lang="en-US" sz="1800" i="1" dirty="0"/>
              <a:t>3.Database executes the statement with the </a:t>
            </a:r>
            <a:r>
              <a:rPr lang="en-US" sz="1800" dirty="0"/>
              <a:t>parameters treated as literal values.</a:t>
            </a:r>
            <a:br>
              <a:rPr lang="en-US" sz="1800" dirty="0"/>
            </a:br>
            <a:r>
              <a:rPr lang="en-US" sz="1800" dirty="0">
                <a:solidFill>
                  <a:srgbClr val="92D050"/>
                </a:solidFill>
              </a:rPr>
              <a:t>$</a:t>
            </a:r>
            <a:r>
              <a:rPr lang="en-US" sz="1800" dirty="0" err="1">
                <a:solidFill>
                  <a:srgbClr val="92D050"/>
                </a:solidFill>
              </a:rPr>
              <a:t>stmt</a:t>
            </a:r>
            <a:r>
              <a:rPr lang="en-US" sz="1800" dirty="0">
                <a:solidFill>
                  <a:srgbClr val="92D050"/>
                </a:solidFill>
              </a:rPr>
              <a:t> = $</a:t>
            </a:r>
            <a:r>
              <a:rPr lang="en-US" sz="1800" dirty="0" err="1">
                <a:solidFill>
                  <a:srgbClr val="92D050"/>
                </a:solidFill>
              </a:rPr>
              <a:t>mysqli</a:t>
            </a:r>
            <a:r>
              <a:rPr lang="en-US" sz="1800" dirty="0">
                <a:solidFill>
                  <a:srgbClr val="92D050"/>
                </a:solidFill>
              </a:rPr>
              <a:t>-&gt;prepare(</a:t>
            </a:r>
            <a:br>
              <a:rPr lang="en-US" sz="1800" dirty="0">
                <a:solidFill>
                  <a:srgbClr val="92D050"/>
                </a:solidFill>
              </a:rPr>
            </a:br>
            <a:r>
              <a:rPr lang="en-US" sz="1800" dirty="0">
                <a:solidFill>
                  <a:srgbClr val="92D050"/>
                </a:solidFill>
              </a:rPr>
              <a:t>"SELECT </a:t>
            </a:r>
            <a:r>
              <a:rPr lang="en-US" sz="1800" dirty="0" err="1">
                <a:solidFill>
                  <a:srgbClr val="92D050"/>
                </a:solidFill>
              </a:rPr>
              <a:t>user_id</a:t>
            </a:r>
            <a:r>
              <a:rPr lang="en-US" sz="1800" dirty="0">
                <a:solidFill>
                  <a:srgbClr val="92D050"/>
                </a:solidFill>
              </a:rPr>
              <a:t>, name, password, </a:t>
            </a:r>
            <a:r>
              <a:rPr lang="en-US" sz="1800" dirty="0" err="1">
                <a:solidFill>
                  <a:srgbClr val="92D050"/>
                </a:solidFill>
              </a:rPr>
              <a:t>is_approved</a:t>
            </a:r>
            <a:r>
              <a:rPr lang="en-US" sz="1800" dirty="0">
                <a:solidFill>
                  <a:srgbClr val="92D050"/>
                </a:solidFill>
              </a:rPr>
              <a:t> </a:t>
            </a:r>
            <a:br>
              <a:rPr lang="en-US" sz="1800" dirty="0">
                <a:solidFill>
                  <a:srgbClr val="92D050"/>
                </a:solidFill>
              </a:rPr>
            </a:br>
            <a:r>
              <a:rPr lang="en-US" sz="1800" dirty="0">
                <a:solidFill>
                  <a:srgbClr val="92D050"/>
                </a:solidFill>
              </a:rPr>
              <a:t>FROM users </a:t>
            </a:r>
            <a:br>
              <a:rPr lang="en-US" sz="1800" dirty="0">
                <a:solidFill>
                  <a:srgbClr val="92D050"/>
                </a:solidFill>
              </a:rPr>
            </a:br>
            <a:r>
              <a:rPr lang="en-US" sz="1800" dirty="0">
                <a:solidFill>
                  <a:srgbClr val="92D050"/>
                </a:solidFill>
              </a:rPr>
              <a:t>WHERE email = ?"</a:t>
            </a:r>
            <a:br>
              <a:rPr lang="en-US" sz="1800" dirty="0">
                <a:solidFill>
                  <a:srgbClr val="92D050"/>
                </a:solidFill>
              </a:rPr>
            </a:br>
            <a:r>
              <a:rPr lang="en-US" sz="1800" dirty="0">
                <a:solidFill>
                  <a:srgbClr val="92D050"/>
                </a:solidFill>
              </a:rPr>
              <a:t>);</a:t>
            </a:r>
            <a:br>
              <a:rPr lang="en-US" sz="1800" dirty="0"/>
            </a:br>
            <a:r>
              <a:rPr lang="en-US" sz="1800" dirty="0"/>
              <a:t>$</a:t>
            </a:r>
            <a:r>
              <a:rPr lang="en-US" sz="1800" dirty="0" err="1"/>
              <a:t>stmt</a:t>
            </a:r>
            <a:r>
              <a:rPr lang="en-US" sz="1800" dirty="0"/>
              <a:t>-&gt;</a:t>
            </a:r>
            <a:r>
              <a:rPr lang="en-US" sz="1800" dirty="0" err="1"/>
              <a:t>bind_param</a:t>
            </a:r>
            <a:r>
              <a:rPr lang="en-US" sz="1800" dirty="0"/>
              <a:t>('s', $email);</a:t>
            </a:r>
            <a:br>
              <a:rPr lang="en-US" sz="1800" dirty="0"/>
            </a:br>
            <a:r>
              <a:rPr lang="en-US" sz="1800" dirty="0"/>
              <a:t>$</a:t>
            </a:r>
            <a:r>
              <a:rPr lang="en-US" sz="1800" dirty="0" err="1"/>
              <a:t>stmt</a:t>
            </a:r>
            <a:r>
              <a:rPr lang="en-US" sz="1800" dirty="0"/>
              <a:t>-&gt;execute();</a:t>
            </a:r>
            <a:br>
              <a:rPr lang="en-US" sz="1800" dirty="0"/>
            </a:br>
            <a:r>
              <a:rPr lang="en-US" sz="1800" b="1" dirty="0"/>
              <a:t> This prevents injection, protects logins, bookings, scoring, and all CRUD actions.</a:t>
            </a:r>
          </a:p>
          <a:p>
            <a:endParaRPr lang="en-US" sz="1800" dirty="0"/>
          </a:p>
        </p:txBody>
      </p:sp>
      <p:sp>
        <p:nvSpPr>
          <p:cNvPr id="4" name="Title 1">
            <a:extLst>
              <a:ext uri="{FF2B5EF4-FFF2-40B4-BE49-F238E27FC236}">
                <a16:creationId xmlns:a16="http://schemas.microsoft.com/office/drawing/2014/main" id="{02772510-5062-49D5-A263-B7D729755D08}"/>
              </a:ext>
            </a:extLst>
          </p:cNvPr>
          <p:cNvSpPr>
            <a:spLocks noGrp="1"/>
          </p:cNvSpPr>
          <p:nvPr>
            <p:ph type="title"/>
          </p:nvPr>
        </p:nvSpPr>
        <p:spPr>
          <a:xfrm>
            <a:off x="0" y="0"/>
            <a:ext cx="12192000" cy="584811"/>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2800" dirty="0"/>
              <a:t>Prepared Statement</a:t>
            </a:r>
          </a:p>
        </p:txBody>
      </p:sp>
      <p:pic>
        <p:nvPicPr>
          <p:cNvPr id="6" name="Picture 5">
            <a:extLst>
              <a:ext uri="{FF2B5EF4-FFF2-40B4-BE49-F238E27FC236}">
                <a16:creationId xmlns:a16="http://schemas.microsoft.com/office/drawing/2014/main" id="{094490A5-C026-4819-99D9-9BAA67998A05}"/>
              </a:ext>
            </a:extLst>
          </p:cNvPr>
          <p:cNvPicPr>
            <a:picLocks noChangeAspect="1"/>
          </p:cNvPicPr>
          <p:nvPr/>
        </p:nvPicPr>
        <p:blipFill rotWithShape="1">
          <a:blip r:embed="rId2">
            <a:extLst>
              <a:ext uri="{28A0092B-C50C-407E-A947-70E740481C1C}">
                <a14:useLocalDpi xmlns:a14="http://schemas.microsoft.com/office/drawing/2010/main" val="0"/>
              </a:ext>
            </a:extLst>
          </a:blip>
          <a:srcRect l="15919" t="15849" r="15802" b="39371"/>
          <a:stretch/>
        </p:blipFill>
        <p:spPr>
          <a:xfrm>
            <a:off x="2415396" y="3786996"/>
            <a:ext cx="6702724" cy="3071004"/>
          </a:xfrm>
          <a:prstGeom prst="rect">
            <a:avLst/>
          </a:prstGeom>
        </p:spPr>
      </p:pic>
    </p:spTree>
    <p:extLst>
      <p:ext uri="{BB962C8B-B14F-4D97-AF65-F5344CB8AC3E}">
        <p14:creationId xmlns:p14="http://schemas.microsoft.com/office/powerpoint/2010/main" val="1100676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2772510-5062-49D5-A263-B7D729755D08}"/>
              </a:ext>
            </a:extLst>
          </p:cNvPr>
          <p:cNvSpPr>
            <a:spLocks noGrp="1"/>
          </p:cNvSpPr>
          <p:nvPr>
            <p:ph type="title"/>
          </p:nvPr>
        </p:nvSpPr>
        <p:spPr>
          <a:xfrm>
            <a:off x="0" y="0"/>
            <a:ext cx="12192000" cy="584811"/>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2800" dirty="0"/>
              <a:t>Seat Booking and Restoration</a:t>
            </a:r>
          </a:p>
        </p:txBody>
      </p:sp>
      <p:sp>
        <p:nvSpPr>
          <p:cNvPr id="5" name="Rectangle 2">
            <a:extLst>
              <a:ext uri="{FF2B5EF4-FFF2-40B4-BE49-F238E27FC236}">
                <a16:creationId xmlns:a16="http://schemas.microsoft.com/office/drawing/2014/main" id="{F9AB013D-F3D2-4E04-928B-DFB28DBA4573}"/>
              </a:ext>
            </a:extLst>
          </p:cNvPr>
          <p:cNvSpPr>
            <a:spLocks noGrp="1" noChangeArrowheads="1"/>
          </p:cNvSpPr>
          <p:nvPr>
            <p:ph idx="1"/>
          </p:nvPr>
        </p:nvSpPr>
        <p:spPr bwMode="auto">
          <a:xfrm>
            <a:off x="43133" y="542315"/>
            <a:ext cx="11947585"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Seat handling works in two phases: </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decrement on booking</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restoration on deletion</a:t>
            </a: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endPar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Seat Decrement After Booking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When a user books seats, the system runs a transaction. After confirming that enough seats are available, it inserts the booking and then runs: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UPDATE movies </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SET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total_seats</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total_seats</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 ? WHERE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movie_id</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This reduces the available seats and happens inside a transaction with a row lock, two users cannot decrement at the same time incorrectly.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insert booking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stmt</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mysqli</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-&gt;prepare("INSERT INTO bookings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user_id</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movie_id</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seats_booked</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VALUES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stmt</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-&gt;</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bind_param</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('iii',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uid</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movie_id</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$seats);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stmt</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-&gt;execute();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stmt</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-&gt;close();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decrement seats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stmt</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mysqli</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-&gt;prepare("UPDATE movies SET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total_seats</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total_seats</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 ? WHERE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movie_id</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stmt</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-&gt;</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bind_param</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('ii', $seats, $</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movie_id</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stmt</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-&gt;execute();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n-US" altLang="en-US" sz="12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stmt</a:t>
            </a:r>
            <a:r>
              <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-&gt;close();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pic>
        <p:nvPicPr>
          <p:cNvPr id="17" name="Picture 16">
            <a:extLst>
              <a:ext uri="{FF2B5EF4-FFF2-40B4-BE49-F238E27FC236}">
                <a16:creationId xmlns:a16="http://schemas.microsoft.com/office/drawing/2014/main" id="{84BE3104-CCD0-4B29-ABA3-44BEC9EFDBAD}"/>
              </a:ext>
            </a:extLst>
          </p:cNvPr>
          <p:cNvPicPr>
            <a:picLocks noChangeAspect="1"/>
          </p:cNvPicPr>
          <p:nvPr/>
        </p:nvPicPr>
        <p:blipFill rotWithShape="1">
          <a:blip r:embed="rId2">
            <a:extLst>
              <a:ext uri="{28A0092B-C50C-407E-A947-70E740481C1C}">
                <a14:useLocalDpi xmlns:a14="http://schemas.microsoft.com/office/drawing/2010/main" val="0"/>
              </a:ext>
            </a:extLst>
          </a:blip>
          <a:srcRect l="17024" t="16318" r="42709" b="42364"/>
          <a:stretch/>
        </p:blipFill>
        <p:spPr>
          <a:xfrm>
            <a:off x="43133" y="3773969"/>
            <a:ext cx="4692769" cy="2708696"/>
          </a:xfrm>
          <a:prstGeom prst="rect">
            <a:avLst/>
          </a:prstGeom>
        </p:spPr>
      </p:pic>
      <p:pic>
        <p:nvPicPr>
          <p:cNvPr id="20" name="Picture 19">
            <a:extLst>
              <a:ext uri="{FF2B5EF4-FFF2-40B4-BE49-F238E27FC236}">
                <a16:creationId xmlns:a16="http://schemas.microsoft.com/office/drawing/2014/main" id="{A5EFC197-C1A2-4C74-8E53-3A153B96384B}"/>
              </a:ext>
            </a:extLst>
          </p:cNvPr>
          <p:cNvPicPr>
            <a:picLocks noChangeAspect="1"/>
          </p:cNvPicPr>
          <p:nvPr/>
        </p:nvPicPr>
        <p:blipFill rotWithShape="1">
          <a:blip r:embed="rId3">
            <a:extLst>
              <a:ext uri="{28A0092B-C50C-407E-A947-70E740481C1C}">
                <a14:useLocalDpi xmlns:a14="http://schemas.microsoft.com/office/drawing/2010/main" val="0"/>
              </a:ext>
            </a:extLst>
          </a:blip>
          <a:srcRect l="15750" t="25723" r="25547" b="37570"/>
          <a:stretch/>
        </p:blipFill>
        <p:spPr>
          <a:xfrm>
            <a:off x="5003322" y="4119028"/>
            <a:ext cx="6719976" cy="2363637"/>
          </a:xfrm>
          <a:prstGeom prst="rect">
            <a:avLst/>
          </a:prstGeom>
        </p:spPr>
      </p:pic>
    </p:spTree>
    <p:extLst>
      <p:ext uri="{BB962C8B-B14F-4D97-AF65-F5344CB8AC3E}">
        <p14:creationId xmlns:p14="http://schemas.microsoft.com/office/powerpoint/2010/main" val="2376823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D871ED0-A5B9-412D-BAD2-1C13294306BB}"/>
              </a:ext>
            </a:extLst>
          </p:cNvPr>
          <p:cNvSpPr>
            <a:spLocks noGrp="1"/>
          </p:cNvSpPr>
          <p:nvPr>
            <p:ph type="title"/>
          </p:nvPr>
        </p:nvSpPr>
        <p:spPr>
          <a:xfrm>
            <a:off x="0" y="0"/>
            <a:ext cx="12192000" cy="584811"/>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2800" dirty="0"/>
              <a:t>Seat Booking and Restoration</a:t>
            </a:r>
          </a:p>
        </p:txBody>
      </p:sp>
      <p:sp>
        <p:nvSpPr>
          <p:cNvPr id="6" name="Rectangle 2">
            <a:extLst>
              <a:ext uri="{FF2B5EF4-FFF2-40B4-BE49-F238E27FC236}">
                <a16:creationId xmlns:a16="http://schemas.microsoft.com/office/drawing/2014/main" id="{1CC42367-B2A1-41E8-AA95-C85698FCC69A}"/>
              </a:ext>
            </a:extLst>
          </p:cNvPr>
          <p:cNvSpPr txBox="1">
            <a:spLocks noChangeArrowheads="1"/>
          </p:cNvSpPr>
          <p:nvPr/>
        </p:nvSpPr>
        <p:spPr bwMode="auto">
          <a:xfrm>
            <a:off x="0" y="628233"/>
            <a:ext cx="11979603"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Seat Restoration After Deletion</a:t>
            </a:r>
          </a:p>
          <a:p>
            <a:pPr marL="0" indent="0" eaLnBrk="0" fontAlgn="base" hangingPunct="0">
              <a:lnSpc>
                <a:spcPct val="100000"/>
              </a:lnSpc>
              <a:spcBef>
                <a:spcPct val="0"/>
              </a:spcBef>
              <a:spcAft>
                <a:spcPct val="0"/>
              </a:spcAft>
              <a:buFontTx/>
              <a:buNone/>
            </a:pPr>
            <a:r>
              <a:rPr lang="en-US" altLang="en-US" sz="1100" dirty="0">
                <a:latin typeface="Arial" panose="020B0604020202020204" pitchFamily="34" charset="0"/>
                <a:cs typeface="Arial" panose="020B0604020202020204" pitchFamily="34" charset="0"/>
              </a:rPr>
              <a:t>When a user deletes a booking, the system again uses a transaction. It first removes the booking, then restores the exact number of seats the user had booked:</a:t>
            </a:r>
          </a:p>
          <a:p>
            <a:pPr marL="0" indent="0" eaLnBrk="0" fontAlgn="base" hangingPunct="0">
              <a:lnSpc>
                <a:spcPct val="100000"/>
              </a:lnSpc>
              <a:spcBef>
                <a:spcPct val="0"/>
              </a:spcBef>
              <a:spcAft>
                <a:spcPct val="0"/>
              </a:spcAft>
              <a:buFontTx/>
              <a:buNone/>
            </a:pPr>
            <a:r>
              <a:rPr lang="en-US" altLang="en-US" sz="1100" dirty="0">
                <a:latin typeface="Arial" panose="020B0604020202020204" pitchFamily="34" charset="0"/>
                <a:cs typeface="Arial" panose="020B0604020202020204" pitchFamily="34" charset="0"/>
              </a:rPr>
              <a:t>UPDATE movies </a:t>
            </a:r>
            <a:r>
              <a:rPr lang="en-US" altLang="en-US" sz="1100" b="1" dirty="0">
                <a:latin typeface="Arial" panose="020B0604020202020204" pitchFamily="34" charset="0"/>
                <a:cs typeface="Arial" panose="020B0604020202020204" pitchFamily="34" charset="0"/>
              </a:rPr>
              <a:t>SET </a:t>
            </a:r>
            <a:r>
              <a:rPr lang="en-US" altLang="en-US" sz="1100" b="1" dirty="0" err="1">
                <a:latin typeface="Arial" panose="020B0604020202020204" pitchFamily="34" charset="0"/>
                <a:cs typeface="Arial" panose="020B0604020202020204" pitchFamily="34" charset="0"/>
              </a:rPr>
              <a:t>total_seats</a:t>
            </a:r>
            <a:r>
              <a:rPr lang="en-US" altLang="en-US" sz="1100" b="1" dirty="0">
                <a:latin typeface="Arial" panose="020B0604020202020204" pitchFamily="34" charset="0"/>
                <a:cs typeface="Arial" panose="020B0604020202020204" pitchFamily="34" charset="0"/>
              </a:rPr>
              <a:t> = </a:t>
            </a:r>
            <a:r>
              <a:rPr lang="en-US" altLang="en-US" sz="1100" b="1" dirty="0" err="1">
                <a:latin typeface="Arial" panose="020B0604020202020204" pitchFamily="34" charset="0"/>
                <a:cs typeface="Arial" panose="020B0604020202020204" pitchFamily="34" charset="0"/>
              </a:rPr>
              <a:t>total_seats</a:t>
            </a:r>
            <a:r>
              <a:rPr lang="en-US" altLang="en-US" sz="1100" b="1" dirty="0">
                <a:latin typeface="Arial" panose="020B0604020202020204" pitchFamily="34" charset="0"/>
                <a:cs typeface="Arial" panose="020B0604020202020204" pitchFamily="34" charset="0"/>
              </a:rPr>
              <a:t> + ? WHERE </a:t>
            </a:r>
            <a:r>
              <a:rPr lang="en-US" altLang="en-US" sz="1100" b="1" dirty="0" err="1">
                <a:latin typeface="Arial" panose="020B0604020202020204" pitchFamily="34" charset="0"/>
                <a:cs typeface="Arial" panose="020B0604020202020204" pitchFamily="34" charset="0"/>
              </a:rPr>
              <a:t>movie_id</a:t>
            </a:r>
            <a:r>
              <a:rPr lang="en-US" altLang="en-US" sz="1100" b="1" dirty="0">
                <a:latin typeface="Arial" panose="020B0604020202020204" pitchFamily="34" charset="0"/>
                <a:cs typeface="Arial" panose="020B0604020202020204" pitchFamily="34" charset="0"/>
              </a:rPr>
              <a:t> = ? </a:t>
            </a:r>
          </a:p>
          <a:p>
            <a:pPr marL="0" indent="0" eaLnBrk="0" fontAlgn="base" hangingPunct="0">
              <a:lnSpc>
                <a:spcPct val="100000"/>
              </a:lnSpc>
              <a:spcBef>
                <a:spcPct val="0"/>
              </a:spcBef>
              <a:spcAft>
                <a:spcPct val="0"/>
              </a:spcAft>
              <a:buFontTx/>
              <a:buNone/>
            </a:pPr>
            <a:r>
              <a:rPr lang="en-US" altLang="en-US" sz="1100" dirty="0">
                <a:latin typeface="Arial" panose="020B0604020202020204" pitchFamily="34" charset="0"/>
                <a:cs typeface="Arial" panose="020B0604020202020204" pitchFamily="34" charset="0"/>
              </a:rPr>
              <a:t>This ensures no seats are permanently lost when a user cancels. The rollback mechanism also protects against partial updates.</a:t>
            </a:r>
          </a:p>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 delete booking</a:t>
            </a:r>
          </a:p>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a:t>
            </a:r>
            <a:r>
              <a:rPr lang="en-US" altLang="en-US" sz="1100" b="1" dirty="0" err="1">
                <a:latin typeface="Arial" panose="020B0604020202020204" pitchFamily="34" charset="0"/>
                <a:cs typeface="Arial" panose="020B0604020202020204" pitchFamily="34" charset="0"/>
              </a:rPr>
              <a:t>stmt</a:t>
            </a:r>
            <a:r>
              <a:rPr lang="en-US" altLang="en-US" sz="1100" b="1" dirty="0">
                <a:latin typeface="Arial" panose="020B0604020202020204" pitchFamily="34" charset="0"/>
                <a:cs typeface="Arial" panose="020B0604020202020204" pitchFamily="34" charset="0"/>
              </a:rPr>
              <a:t> = $</a:t>
            </a:r>
            <a:r>
              <a:rPr lang="en-US" altLang="en-US" sz="1100" b="1" dirty="0" err="1">
                <a:latin typeface="Arial" panose="020B0604020202020204" pitchFamily="34" charset="0"/>
                <a:cs typeface="Arial" panose="020B0604020202020204" pitchFamily="34" charset="0"/>
              </a:rPr>
              <a:t>mysqli</a:t>
            </a:r>
            <a:r>
              <a:rPr lang="en-US" altLang="en-US" sz="1100" b="1" dirty="0">
                <a:latin typeface="Arial" panose="020B0604020202020204" pitchFamily="34" charset="0"/>
                <a:cs typeface="Arial" panose="020B0604020202020204" pitchFamily="34" charset="0"/>
              </a:rPr>
              <a:t>-&gt;prepare("DELETE FROM bookings WHERE </a:t>
            </a:r>
            <a:r>
              <a:rPr lang="en-US" altLang="en-US" sz="1100" b="1" dirty="0" err="1">
                <a:latin typeface="Arial" panose="020B0604020202020204" pitchFamily="34" charset="0"/>
                <a:cs typeface="Arial" panose="020B0604020202020204" pitchFamily="34" charset="0"/>
              </a:rPr>
              <a:t>booking_id</a:t>
            </a:r>
            <a:r>
              <a:rPr lang="en-US" altLang="en-US" sz="1100" b="1" dirty="0">
                <a:latin typeface="Arial" panose="020B0604020202020204" pitchFamily="34" charset="0"/>
                <a:cs typeface="Arial" panose="020B0604020202020204" pitchFamily="34" charset="0"/>
              </a:rPr>
              <a:t> = ?");</a:t>
            </a:r>
          </a:p>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a:t>
            </a:r>
            <a:r>
              <a:rPr lang="en-US" altLang="en-US" sz="1100" b="1" dirty="0" err="1">
                <a:latin typeface="Arial" panose="020B0604020202020204" pitchFamily="34" charset="0"/>
                <a:cs typeface="Arial" panose="020B0604020202020204" pitchFamily="34" charset="0"/>
              </a:rPr>
              <a:t>stmt</a:t>
            </a:r>
            <a:r>
              <a:rPr lang="en-US" altLang="en-US" sz="1100" b="1" dirty="0">
                <a:latin typeface="Arial" panose="020B0604020202020204" pitchFamily="34" charset="0"/>
                <a:cs typeface="Arial" panose="020B0604020202020204" pitchFamily="34" charset="0"/>
              </a:rPr>
              <a:t>-&gt;</a:t>
            </a:r>
            <a:r>
              <a:rPr lang="en-US" altLang="en-US" sz="1100" b="1" dirty="0" err="1">
                <a:latin typeface="Arial" panose="020B0604020202020204" pitchFamily="34" charset="0"/>
                <a:cs typeface="Arial" panose="020B0604020202020204" pitchFamily="34" charset="0"/>
              </a:rPr>
              <a:t>bind_param</a:t>
            </a:r>
            <a:r>
              <a:rPr lang="en-US" altLang="en-US" sz="1100" b="1" dirty="0">
                <a:latin typeface="Arial" panose="020B0604020202020204" pitchFamily="34" charset="0"/>
                <a:cs typeface="Arial" panose="020B0604020202020204" pitchFamily="34" charset="0"/>
              </a:rPr>
              <a:t>('</a:t>
            </a:r>
            <a:r>
              <a:rPr lang="en-US" altLang="en-US" sz="1100" b="1" dirty="0" err="1">
                <a:latin typeface="Arial" panose="020B0604020202020204" pitchFamily="34" charset="0"/>
                <a:cs typeface="Arial" panose="020B0604020202020204" pitchFamily="34" charset="0"/>
              </a:rPr>
              <a:t>i</a:t>
            </a:r>
            <a:r>
              <a:rPr lang="en-US" altLang="en-US" sz="1100" b="1" dirty="0">
                <a:latin typeface="Arial" panose="020B0604020202020204" pitchFamily="34" charset="0"/>
                <a:cs typeface="Arial" panose="020B0604020202020204" pitchFamily="34" charset="0"/>
              </a:rPr>
              <a:t>', $</a:t>
            </a:r>
            <a:r>
              <a:rPr lang="en-US" altLang="en-US" sz="1100" b="1" dirty="0" err="1">
                <a:latin typeface="Arial" panose="020B0604020202020204" pitchFamily="34" charset="0"/>
                <a:cs typeface="Arial" panose="020B0604020202020204" pitchFamily="34" charset="0"/>
              </a:rPr>
              <a:t>booking_id</a:t>
            </a:r>
            <a:r>
              <a:rPr lang="en-US" altLang="en-US" sz="1100" b="1" dirty="0">
                <a:latin typeface="Arial" panose="020B0604020202020204" pitchFamily="34" charset="0"/>
                <a:cs typeface="Arial" panose="020B0604020202020204" pitchFamily="34" charset="0"/>
              </a:rPr>
              <a:t>);</a:t>
            </a:r>
          </a:p>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a:t>
            </a:r>
            <a:r>
              <a:rPr lang="en-US" altLang="en-US" sz="1100" b="1" dirty="0" err="1">
                <a:latin typeface="Arial" panose="020B0604020202020204" pitchFamily="34" charset="0"/>
                <a:cs typeface="Arial" panose="020B0604020202020204" pitchFamily="34" charset="0"/>
              </a:rPr>
              <a:t>stmt</a:t>
            </a:r>
            <a:r>
              <a:rPr lang="en-US" altLang="en-US" sz="1100" b="1" dirty="0">
                <a:latin typeface="Arial" panose="020B0604020202020204" pitchFamily="34" charset="0"/>
                <a:cs typeface="Arial" panose="020B0604020202020204" pitchFamily="34" charset="0"/>
              </a:rPr>
              <a:t>-&gt;execute();</a:t>
            </a:r>
          </a:p>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a:t>
            </a:r>
            <a:r>
              <a:rPr lang="en-US" altLang="en-US" sz="1100" b="1" dirty="0" err="1">
                <a:latin typeface="Arial" panose="020B0604020202020204" pitchFamily="34" charset="0"/>
                <a:cs typeface="Arial" panose="020B0604020202020204" pitchFamily="34" charset="0"/>
              </a:rPr>
              <a:t>stmt</a:t>
            </a:r>
            <a:r>
              <a:rPr lang="en-US" altLang="en-US" sz="1100" b="1" dirty="0">
                <a:latin typeface="Arial" panose="020B0604020202020204" pitchFamily="34" charset="0"/>
                <a:cs typeface="Arial" panose="020B0604020202020204" pitchFamily="34" charset="0"/>
              </a:rPr>
              <a:t>-&gt;close();</a:t>
            </a:r>
          </a:p>
          <a:p>
            <a:pPr marL="0" indent="0" eaLnBrk="0" fontAlgn="base" hangingPunct="0">
              <a:lnSpc>
                <a:spcPct val="100000"/>
              </a:lnSpc>
              <a:spcBef>
                <a:spcPct val="0"/>
              </a:spcBef>
              <a:spcAft>
                <a:spcPct val="0"/>
              </a:spcAft>
              <a:buFontTx/>
              <a:buNone/>
            </a:pPr>
            <a:endParaRPr lang="en-US" altLang="en-US" sz="1100" b="1" dirty="0">
              <a:latin typeface="Arial" panose="020B0604020202020204" pitchFamily="34" charset="0"/>
              <a:cs typeface="Arial" panose="020B0604020202020204" pitchFamily="34" charset="0"/>
            </a:endParaRPr>
          </a:p>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 restore seats</a:t>
            </a:r>
          </a:p>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a:t>
            </a:r>
            <a:r>
              <a:rPr lang="en-US" altLang="en-US" sz="1100" b="1" dirty="0" err="1">
                <a:latin typeface="Arial" panose="020B0604020202020204" pitchFamily="34" charset="0"/>
                <a:cs typeface="Arial" panose="020B0604020202020204" pitchFamily="34" charset="0"/>
              </a:rPr>
              <a:t>stmt</a:t>
            </a:r>
            <a:r>
              <a:rPr lang="en-US" altLang="en-US" sz="1100" b="1" dirty="0">
                <a:latin typeface="Arial" panose="020B0604020202020204" pitchFamily="34" charset="0"/>
                <a:cs typeface="Arial" panose="020B0604020202020204" pitchFamily="34" charset="0"/>
              </a:rPr>
              <a:t> = $</a:t>
            </a:r>
            <a:r>
              <a:rPr lang="en-US" altLang="en-US" sz="1100" b="1" dirty="0" err="1">
                <a:latin typeface="Arial" panose="020B0604020202020204" pitchFamily="34" charset="0"/>
                <a:cs typeface="Arial" panose="020B0604020202020204" pitchFamily="34" charset="0"/>
              </a:rPr>
              <a:t>mysqli</a:t>
            </a:r>
            <a:r>
              <a:rPr lang="en-US" altLang="en-US" sz="1100" b="1" dirty="0">
                <a:latin typeface="Arial" panose="020B0604020202020204" pitchFamily="34" charset="0"/>
                <a:cs typeface="Arial" panose="020B0604020202020204" pitchFamily="34" charset="0"/>
              </a:rPr>
              <a:t>-&gt;prepare("UPDATE movies SET </a:t>
            </a:r>
            <a:r>
              <a:rPr lang="en-US" altLang="en-US" sz="1100" b="1" dirty="0" err="1">
                <a:latin typeface="Arial" panose="020B0604020202020204" pitchFamily="34" charset="0"/>
                <a:cs typeface="Arial" panose="020B0604020202020204" pitchFamily="34" charset="0"/>
              </a:rPr>
              <a:t>total_seats</a:t>
            </a:r>
            <a:r>
              <a:rPr lang="en-US" altLang="en-US" sz="1100" b="1" dirty="0">
                <a:latin typeface="Arial" panose="020B0604020202020204" pitchFamily="34" charset="0"/>
                <a:cs typeface="Arial" panose="020B0604020202020204" pitchFamily="34" charset="0"/>
              </a:rPr>
              <a:t> = </a:t>
            </a:r>
            <a:r>
              <a:rPr lang="en-US" altLang="en-US" sz="1100" b="1" dirty="0" err="1">
                <a:latin typeface="Arial" panose="020B0604020202020204" pitchFamily="34" charset="0"/>
                <a:cs typeface="Arial" panose="020B0604020202020204" pitchFamily="34" charset="0"/>
              </a:rPr>
              <a:t>total_seats</a:t>
            </a:r>
            <a:r>
              <a:rPr lang="en-US" altLang="en-US" sz="1100" b="1" dirty="0">
                <a:latin typeface="Arial" panose="020B0604020202020204" pitchFamily="34" charset="0"/>
                <a:cs typeface="Arial" panose="020B0604020202020204" pitchFamily="34" charset="0"/>
              </a:rPr>
              <a:t> + ? WHERE </a:t>
            </a:r>
            <a:r>
              <a:rPr lang="en-US" altLang="en-US" sz="1100" b="1" dirty="0" err="1">
                <a:latin typeface="Arial" panose="020B0604020202020204" pitchFamily="34" charset="0"/>
                <a:cs typeface="Arial" panose="020B0604020202020204" pitchFamily="34" charset="0"/>
              </a:rPr>
              <a:t>movie_id</a:t>
            </a:r>
            <a:r>
              <a:rPr lang="en-US" altLang="en-US" sz="1100" b="1" dirty="0">
                <a:latin typeface="Arial" panose="020B0604020202020204" pitchFamily="34" charset="0"/>
                <a:cs typeface="Arial" panose="020B0604020202020204" pitchFamily="34" charset="0"/>
              </a:rPr>
              <a:t> = ?");</a:t>
            </a:r>
          </a:p>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a:t>
            </a:r>
            <a:r>
              <a:rPr lang="en-US" altLang="en-US" sz="1100" b="1" dirty="0" err="1">
                <a:latin typeface="Arial" panose="020B0604020202020204" pitchFamily="34" charset="0"/>
                <a:cs typeface="Arial" panose="020B0604020202020204" pitchFamily="34" charset="0"/>
              </a:rPr>
              <a:t>stmt</a:t>
            </a:r>
            <a:r>
              <a:rPr lang="en-US" altLang="en-US" sz="1100" b="1" dirty="0">
                <a:latin typeface="Arial" panose="020B0604020202020204" pitchFamily="34" charset="0"/>
                <a:cs typeface="Arial" panose="020B0604020202020204" pitchFamily="34" charset="0"/>
              </a:rPr>
              <a:t>-&gt;</a:t>
            </a:r>
            <a:r>
              <a:rPr lang="en-US" altLang="en-US" sz="1100" b="1" dirty="0" err="1">
                <a:latin typeface="Arial" panose="020B0604020202020204" pitchFamily="34" charset="0"/>
                <a:cs typeface="Arial" panose="020B0604020202020204" pitchFamily="34" charset="0"/>
              </a:rPr>
              <a:t>bind_param</a:t>
            </a:r>
            <a:r>
              <a:rPr lang="en-US" altLang="en-US" sz="1100" b="1" dirty="0">
                <a:latin typeface="Arial" panose="020B0604020202020204" pitchFamily="34" charset="0"/>
                <a:cs typeface="Arial" panose="020B0604020202020204" pitchFamily="34" charset="0"/>
              </a:rPr>
              <a:t>('ii', $seats, $</a:t>
            </a:r>
            <a:r>
              <a:rPr lang="en-US" altLang="en-US" sz="1100" b="1" dirty="0" err="1">
                <a:latin typeface="Arial" panose="020B0604020202020204" pitchFamily="34" charset="0"/>
                <a:cs typeface="Arial" panose="020B0604020202020204" pitchFamily="34" charset="0"/>
              </a:rPr>
              <a:t>movie_id</a:t>
            </a:r>
            <a:r>
              <a:rPr lang="en-US" altLang="en-US" sz="1100" b="1" dirty="0">
                <a:latin typeface="Arial" panose="020B0604020202020204" pitchFamily="34" charset="0"/>
                <a:cs typeface="Arial" panose="020B0604020202020204" pitchFamily="34" charset="0"/>
              </a:rPr>
              <a:t>);</a:t>
            </a:r>
          </a:p>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a:t>
            </a:r>
            <a:r>
              <a:rPr lang="en-US" altLang="en-US" sz="1100" b="1" dirty="0" err="1">
                <a:latin typeface="Arial" panose="020B0604020202020204" pitchFamily="34" charset="0"/>
                <a:cs typeface="Arial" panose="020B0604020202020204" pitchFamily="34" charset="0"/>
              </a:rPr>
              <a:t>stmt</a:t>
            </a:r>
            <a:r>
              <a:rPr lang="en-US" altLang="en-US" sz="1100" b="1" dirty="0">
                <a:latin typeface="Arial" panose="020B0604020202020204" pitchFamily="34" charset="0"/>
                <a:cs typeface="Arial" panose="020B0604020202020204" pitchFamily="34" charset="0"/>
              </a:rPr>
              <a:t>-&gt;execute();</a:t>
            </a:r>
          </a:p>
          <a:p>
            <a:pPr marL="0" indent="0" eaLnBrk="0" fontAlgn="base" hangingPunct="0">
              <a:lnSpc>
                <a:spcPct val="100000"/>
              </a:lnSpc>
              <a:spcBef>
                <a:spcPct val="0"/>
              </a:spcBef>
              <a:spcAft>
                <a:spcPct val="0"/>
              </a:spcAft>
              <a:buFontTx/>
              <a:buNone/>
            </a:pPr>
            <a:r>
              <a:rPr lang="en-US" altLang="en-US" sz="1100" b="1" dirty="0">
                <a:latin typeface="Arial" panose="020B0604020202020204" pitchFamily="34" charset="0"/>
                <a:cs typeface="Arial" panose="020B0604020202020204" pitchFamily="34" charset="0"/>
              </a:rPr>
              <a:t>$</a:t>
            </a:r>
            <a:r>
              <a:rPr lang="en-US" altLang="en-US" sz="1100" b="1" dirty="0" err="1">
                <a:latin typeface="Arial" panose="020B0604020202020204" pitchFamily="34" charset="0"/>
                <a:cs typeface="Arial" panose="020B0604020202020204" pitchFamily="34" charset="0"/>
              </a:rPr>
              <a:t>stmt</a:t>
            </a:r>
            <a:r>
              <a:rPr lang="en-US" altLang="en-US" sz="1100" b="1" dirty="0">
                <a:latin typeface="Arial" panose="020B0604020202020204" pitchFamily="34" charset="0"/>
                <a:cs typeface="Arial" panose="020B0604020202020204" pitchFamily="34" charset="0"/>
              </a:rPr>
              <a:t>-&gt;close();</a:t>
            </a:r>
          </a:p>
          <a:p>
            <a:pPr marL="0" indent="0" eaLnBrk="0" fontAlgn="base" hangingPunct="0">
              <a:lnSpc>
                <a:spcPct val="100000"/>
              </a:lnSpc>
              <a:spcBef>
                <a:spcPct val="0"/>
              </a:spcBef>
              <a:spcAft>
                <a:spcPct val="0"/>
              </a:spcAft>
              <a:buFontTx/>
              <a:buNone/>
            </a:pPr>
            <a:endParaRPr lang="en-US" altLang="en-US" sz="11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245213E-7784-4117-993F-0D3CF7418D38}"/>
              </a:ext>
            </a:extLst>
          </p:cNvPr>
          <p:cNvPicPr>
            <a:picLocks noChangeAspect="1"/>
          </p:cNvPicPr>
          <p:nvPr/>
        </p:nvPicPr>
        <p:blipFill rotWithShape="1">
          <a:blip r:embed="rId2">
            <a:extLst>
              <a:ext uri="{28A0092B-C50C-407E-A947-70E740481C1C}">
                <a14:useLocalDpi xmlns:a14="http://schemas.microsoft.com/office/drawing/2010/main" val="0"/>
              </a:ext>
            </a:extLst>
          </a:blip>
          <a:srcRect l="16557" t="17987" r="15802" b="35975"/>
          <a:stretch/>
        </p:blipFill>
        <p:spPr>
          <a:xfrm>
            <a:off x="0" y="3383710"/>
            <a:ext cx="6512944" cy="3157268"/>
          </a:xfrm>
          <a:prstGeom prst="rect">
            <a:avLst/>
          </a:prstGeom>
        </p:spPr>
      </p:pic>
      <p:pic>
        <p:nvPicPr>
          <p:cNvPr id="10" name="Picture 9">
            <a:extLst>
              <a:ext uri="{FF2B5EF4-FFF2-40B4-BE49-F238E27FC236}">
                <a16:creationId xmlns:a16="http://schemas.microsoft.com/office/drawing/2014/main" id="{D75291EC-4CF2-4E3C-A8E8-C1E9C3E84B34}"/>
              </a:ext>
            </a:extLst>
          </p:cNvPr>
          <p:cNvPicPr>
            <a:picLocks noChangeAspect="1"/>
          </p:cNvPicPr>
          <p:nvPr/>
        </p:nvPicPr>
        <p:blipFill rotWithShape="1">
          <a:blip r:embed="rId3">
            <a:extLst>
              <a:ext uri="{28A0092B-C50C-407E-A947-70E740481C1C}">
                <a14:useLocalDpi xmlns:a14="http://schemas.microsoft.com/office/drawing/2010/main" val="0"/>
              </a:ext>
            </a:extLst>
          </a:blip>
          <a:srcRect l="16458" t="27876" r="27080" b="37533"/>
          <a:stretch/>
        </p:blipFill>
        <p:spPr>
          <a:xfrm>
            <a:off x="6372434" y="4000499"/>
            <a:ext cx="5747680" cy="2372265"/>
          </a:xfrm>
          <a:prstGeom prst="rect">
            <a:avLst/>
          </a:prstGeom>
        </p:spPr>
      </p:pic>
    </p:spTree>
    <p:extLst>
      <p:ext uri="{BB962C8B-B14F-4D97-AF65-F5344CB8AC3E}">
        <p14:creationId xmlns:p14="http://schemas.microsoft.com/office/powerpoint/2010/main" val="3047260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C442572-9C12-456A-93C4-51D389E4A1FE}"/>
              </a:ext>
            </a:extLst>
          </p:cNvPr>
          <p:cNvSpPr>
            <a:spLocks noGrp="1"/>
          </p:cNvSpPr>
          <p:nvPr>
            <p:ph type="title"/>
          </p:nvPr>
        </p:nvSpPr>
        <p:spPr>
          <a:xfrm>
            <a:off x="0" y="0"/>
            <a:ext cx="12192000" cy="584811"/>
          </a:xfrm>
        </p:spPr>
        <p:style>
          <a:lnRef idx="3">
            <a:schemeClr val="lt1"/>
          </a:lnRef>
          <a:fillRef idx="1">
            <a:schemeClr val="accent1"/>
          </a:fillRef>
          <a:effectRef idx="1">
            <a:schemeClr val="accent1"/>
          </a:effectRef>
          <a:fontRef idx="minor">
            <a:schemeClr val="lt1"/>
          </a:fontRef>
        </p:style>
        <p:txBody>
          <a:bodyPr>
            <a:noAutofit/>
          </a:bodyPr>
          <a:lstStyle/>
          <a:p>
            <a:pPr algn="ctr"/>
            <a:r>
              <a:rPr lang="en-US" sz="2800" dirty="0"/>
              <a:t>Manager</a:t>
            </a:r>
          </a:p>
        </p:txBody>
      </p:sp>
      <p:sp>
        <p:nvSpPr>
          <p:cNvPr id="7" name="Rectangle 2">
            <a:extLst>
              <a:ext uri="{FF2B5EF4-FFF2-40B4-BE49-F238E27FC236}">
                <a16:creationId xmlns:a16="http://schemas.microsoft.com/office/drawing/2014/main" id="{38B3A3B3-E354-49EA-92ED-12BA195BC88B}"/>
              </a:ext>
            </a:extLst>
          </p:cNvPr>
          <p:cNvSpPr>
            <a:spLocks noChangeArrowheads="1"/>
          </p:cNvSpPr>
          <p:nvPr/>
        </p:nvSpPr>
        <p:spPr bwMode="auto">
          <a:xfrm>
            <a:off x="55304" y="670811"/>
            <a:ext cx="598539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Manager handles all administrative control. Main tasks: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Approve new user registrations.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Add new movies with showtime, pricing, seats, and theater.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Edit or delete existing movies.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Manage theater information.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View all bookings made by users.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View all submitted movie scores.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This gives the manager full control over the cinema system’s operations.</a:t>
            </a:r>
          </a:p>
        </p:txBody>
      </p:sp>
      <p:sp>
        <p:nvSpPr>
          <p:cNvPr id="8" name="Rectangle 2">
            <a:extLst>
              <a:ext uri="{FF2B5EF4-FFF2-40B4-BE49-F238E27FC236}">
                <a16:creationId xmlns:a16="http://schemas.microsoft.com/office/drawing/2014/main" id="{10E30290-AF72-44C7-9C2D-5A0E9D40398F}"/>
              </a:ext>
            </a:extLst>
          </p:cNvPr>
          <p:cNvSpPr>
            <a:spLocks noChangeArrowheads="1"/>
          </p:cNvSpPr>
          <p:nvPr/>
        </p:nvSpPr>
        <p:spPr bwMode="auto">
          <a:xfrm>
            <a:off x="6096000" y="584811"/>
            <a:ext cx="5985392" cy="3970318"/>
          </a:xfrm>
          <a:prstGeom prst="rect">
            <a:avLst/>
          </a:prstGeo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if (</a:t>
            </a:r>
            <a:r>
              <a:rPr kumimoji="0" lang="en-US" altLang="en-US" sz="1400" b="0" i="0" u="none" strike="noStrike" cap="none" normalizeH="0" baseline="0" dirty="0" err="1">
                <a:ln>
                  <a:noFill/>
                </a:ln>
                <a:solidFill>
                  <a:schemeClr val="tx1"/>
                </a:solidFill>
                <a:effectLst/>
                <a:latin typeface="Arial" panose="020B0604020202020204" pitchFamily="34" charset="0"/>
              </a:rPr>
              <a:t>isset</a:t>
            </a:r>
            <a:r>
              <a:rPr kumimoji="0" lang="en-US" altLang="en-US" sz="1400" b="0" i="0" u="none" strike="noStrike" cap="none" normalizeH="0" baseline="0" dirty="0">
                <a:ln>
                  <a:noFill/>
                </a:ln>
                <a:solidFill>
                  <a:schemeClr val="tx1"/>
                </a:solidFill>
                <a:effectLst/>
                <a:latin typeface="Arial" panose="020B0604020202020204" pitchFamily="34" charset="0"/>
              </a:rPr>
              <a:t>($_GET['approve']))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uid</a:t>
            </a:r>
            <a:r>
              <a:rPr kumimoji="0" lang="en-US" altLang="en-US" sz="1400" b="0" i="0" u="none" strike="noStrike" cap="none" normalizeH="0" baseline="0" dirty="0">
                <a:ln>
                  <a:noFill/>
                </a:ln>
                <a:solidFill>
                  <a:schemeClr val="tx1"/>
                </a:solidFill>
                <a:effectLst/>
                <a:latin typeface="Arial" panose="020B0604020202020204" pitchFamily="34" charset="0"/>
              </a:rPr>
              <a:t> = (int)$_GET['approve'];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stmt</a:t>
            </a: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0" i="0" u="none" strike="noStrike" cap="none" normalizeH="0" baseline="0" dirty="0" err="1">
                <a:ln>
                  <a:noFill/>
                </a:ln>
                <a:solidFill>
                  <a:schemeClr val="tx1"/>
                </a:solidFill>
                <a:effectLst/>
                <a:latin typeface="Arial" panose="020B0604020202020204" pitchFamily="34" charset="0"/>
              </a:rPr>
              <a:t>mysqli</a:t>
            </a:r>
            <a:r>
              <a:rPr kumimoji="0" lang="en-US" altLang="en-US" sz="1400" b="0" i="0" u="none" strike="noStrike" cap="none" normalizeH="0" baseline="0" dirty="0">
                <a:ln>
                  <a:noFill/>
                </a:ln>
                <a:solidFill>
                  <a:schemeClr val="tx1"/>
                </a:solidFill>
                <a:effectLst/>
                <a:latin typeface="Arial" panose="020B0604020202020204" pitchFamily="34" charset="0"/>
              </a:rPr>
              <a:t>-&gt;prepare("UPDATE users SET </a:t>
            </a:r>
            <a:r>
              <a:rPr kumimoji="0" lang="en-US" altLang="en-US" sz="1400" b="0" i="0" u="none" strike="noStrike" cap="none" normalizeH="0" baseline="0" dirty="0" err="1">
                <a:ln>
                  <a:noFill/>
                </a:ln>
                <a:solidFill>
                  <a:schemeClr val="tx1"/>
                </a:solidFill>
                <a:effectLst/>
                <a:latin typeface="Arial" panose="020B0604020202020204" pitchFamily="34" charset="0"/>
              </a:rPr>
              <a:t>is_approved</a:t>
            </a:r>
            <a:r>
              <a:rPr kumimoji="0" lang="en-US" altLang="en-US" sz="1400" b="0" i="0" u="none" strike="noStrike" cap="none" normalizeH="0" baseline="0" dirty="0">
                <a:ln>
                  <a:noFill/>
                </a:ln>
                <a:solidFill>
                  <a:schemeClr val="tx1"/>
                </a:solidFill>
                <a:effectLst/>
                <a:latin typeface="Arial" panose="020B0604020202020204" pitchFamily="34" charset="0"/>
              </a:rPr>
              <a:t> = 1 WHERE </a:t>
            </a:r>
            <a:r>
              <a:rPr kumimoji="0" lang="en-US" altLang="en-US" sz="1400" b="0" i="0" u="none" strike="noStrike" cap="none" normalizeH="0" baseline="0" dirty="0" err="1">
                <a:ln>
                  <a:noFill/>
                </a:ln>
                <a:solidFill>
                  <a:schemeClr val="tx1"/>
                </a:solidFill>
                <a:effectLst/>
                <a:latin typeface="Arial" panose="020B0604020202020204" pitchFamily="34" charset="0"/>
              </a:rPr>
              <a:t>user_id</a:t>
            </a:r>
            <a:r>
              <a:rPr kumimoji="0" lang="en-US" altLang="en-US" sz="1400" b="0" i="0" u="none" strike="noStrike" cap="none" normalizeH="0" baseline="0" dirty="0">
                <a:ln>
                  <a:noFill/>
                </a:ln>
                <a:solidFill>
                  <a:schemeClr val="tx1"/>
                </a:solidFill>
                <a:effectLst/>
                <a:latin typeface="Arial" panose="020B0604020202020204" pitchFamily="34"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stmt</a:t>
            </a:r>
            <a:r>
              <a:rPr kumimoji="0" lang="en-US" altLang="en-US" sz="1400" b="0" i="0" u="none" strike="noStrike" cap="none" normalizeH="0" baseline="0" dirty="0">
                <a:ln>
                  <a:noFill/>
                </a:ln>
                <a:solidFill>
                  <a:schemeClr val="tx1"/>
                </a:solidFill>
                <a:effectLst/>
                <a:latin typeface="Arial" panose="020B0604020202020204" pitchFamily="34" charset="0"/>
              </a:rPr>
              <a:t>-&gt;</a:t>
            </a:r>
            <a:r>
              <a:rPr kumimoji="0" lang="en-US" altLang="en-US" sz="1400" b="0" i="0" u="none" strike="noStrike" cap="none" normalizeH="0" baseline="0" dirty="0" err="1">
                <a:ln>
                  <a:noFill/>
                </a:ln>
                <a:solidFill>
                  <a:schemeClr val="tx1"/>
                </a:solidFill>
                <a:effectLst/>
                <a:latin typeface="Arial" panose="020B0604020202020204" pitchFamily="34" charset="0"/>
              </a:rPr>
              <a:t>bind_param</a:t>
            </a:r>
            <a:r>
              <a:rPr kumimoji="0" lang="en-US" altLang="en-US" sz="1400" b="0" i="0" u="none" strike="noStrike" cap="none" normalizeH="0" baseline="0" dirty="0">
                <a:ln>
                  <a:noFill/>
                </a:ln>
                <a:solidFill>
                  <a:schemeClr val="tx1"/>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i</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uid</a:t>
            </a: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stmt</a:t>
            </a:r>
            <a:r>
              <a:rPr kumimoji="0" lang="en-US" altLang="en-US" sz="1400" b="0" i="0" u="none" strike="noStrike" cap="none" normalizeH="0" baseline="0" dirty="0">
                <a:ln>
                  <a:noFill/>
                </a:ln>
                <a:solidFill>
                  <a:schemeClr val="tx1"/>
                </a:solidFill>
                <a:effectLst/>
                <a:latin typeface="Arial" panose="020B0604020202020204" pitchFamily="34" charset="0"/>
              </a:rPr>
              <a:t>-&gt;execute();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stmt</a:t>
            </a:r>
            <a:r>
              <a:rPr kumimoji="0" lang="en-US" altLang="en-US" sz="1400" b="0" i="0" u="none" strike="noStrike" cap="none" normalizeH="0" baseline="0" dirty="0">
                <a:ln>
                  <a:noFill/>
                </a:ln>
                <a:solidFill>
                  <a:schemeClr val="tx1"/>
                </a:solidFill>
                <a:effectLst/>
                <a:latin typeface="Arial" panose="020B0604020202020204" pitchFamily="34" charset="0"/>
              </a:rPr>
              <a:t>-&gt;close();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}//approving new users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stmt</a:t>
            </a:r>
            <a:r>
              <a:rPr kumimoji="0" lang="en-US" altLang="en-US" sz="1400" b="0" i="0" u="none" strike="noStrike" cap="none" normalizeH="0" baseline="0" dirty="0">
                <a:ln>
                  <a:noFill/>
                </a:ln>
                <a:solidFill>
                  <a:schemeClr val="tx1"/>
                </a:solidFill>
                <a:effectLst/>
                <a:latin typeface="Arial" panose="020B0604020202020204" pitchFamily="34" charset="0"/>
              </a:rPr>
              <a:t> = $</a:t>
            </a:r>
            <a:r>
              <a:rPr kumimoji="0" lang="en-US" altLang="en-US" sz="1400" b="0" i="0" u="none" strike="noStrike" cap="none" normalizeH="0" baseline="0" dirty="0" err="1">
                <a:ln>
                  <a:noFill/>
                </a:ln>
                <a:solidFill>
                  <a:schemeClr val="tx1"/>
                </a:solidFill>
                <a:effectLst/>
                <a:latin typeface="Arial" panose="020B0604020202020204" pitchFamily="34" charset="0"/>
              </a:rPr>
              <a:t>mysqli</a:t>
            </a:r>
            <a:r>
              <a:rPr kumimoji="0" lang="en-US" altLang="en-US" sz="1400" b="0" i="0" u="none" strike="noStrike" cap="none" normalizeH="0" baseline="0" dirty="0">
                <a:ln>
                  <a:noFill/>
                </a:ln>
                <a:solidFill>
                  <a:schemeClr val="tx1"/>
                </a:solidFill>
                <a:effectLst/>
                <a:latin typeface="Arial" panose="020B0604020202020204" pitchFamily="34" charset="0"/>
              </a:rPr>
              <a:t>-&gt;prepare(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"INSERT INTO movies (title, showtime, </a:t>
            </a:r>
            <a:r>
              <a:rPr kumimoji="0" lang="en-US" altLang="en-US" sz="1400" b="0" i="0" u="none" strike="noStrike" cap="none" normalizeH="0" baseline="0" dirty="0" err="1">
                <a:ln>
                  <a:noFill/>
                </a:ln>
                <a:solidFill>
                  <a:schemeClr val="tx1"/>
                </a:solidFill>
                <a:effectLst/>
                <a:latin typeface="Arial" panose="020B0604020202020204" pitchFamily="34" charset="0"/>
              </a:rPr>
              <a:t>release_date</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price_per_seat</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total_seats</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err="1">
                <a:ln>
                  <a:noFill/>
                </a:ln>
                <a:solidFill>
                  <a:schemeClr val="tx1"/>
                </a:solidFill>
                <a:effectLst/>
                <a:latin typeface="Arial" panose="020B0604020202020204" pitchFamily="34" charset="0"/>
              </a:rPr>
              <a:t>theater_id</a:t>
            </a:r>
            <a:r>
              <a:rPr kumimoji="0" lang="en-US" altLang="en-US" sz="1400" b="0" i="0" u="none" strike="noStrike" cap="none" normalizeH="0" baseline="0" dirty="0">
                <a:ln>
                  <a:noFill/>
                </a:ln>
                <a:solidFill>
                  <a:schemeClr val="tx1"/>
                </a:solidFill>
                <a:effectLst/>
                <a:latin typeface="Arial" panose="020B0604020202020204" pitchFamily="34" charset="0"/>
              </a:rPr>
              <a:t>, genre, duration)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VALUES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stmt</a:t>
            </a:r>
            <a:r>
              <a:rPr kumimoji="0" lang="en-US" altLang="en-US" sz="1400" b="0" i="0" u="none" strike="noStrike" cap="none" normalizeH="0" baseline="0" dirty="0">
                <a:ln>
                  <a:noFill/>
                </a:ln>
                <a:solidFill>
                  <a:schemeClr val="tx1"/>
                </a:solidFill>
                <a:effectLst/>
                <a:latin typeface="Arial" panose="020B0604020202020204" pitchFamily="34" charset="0"/>
              </a:rPr>
              <a:t>-&gt;</a:t>
            </a:r>
            <a:r>
              <a:rPr kumimoji="0" lang="en-US" altLang="en-US" sz="1400" b="0" i="0" u="none" strike="noStrike" cap="none" normalizeH="0" baseline="0" dirty="0" err="1">
                <a:ln>
                  <a:noFill/>
                </a:ln>
                <a:solidFill>
                  <a:schemeClr val="tx1"/>
                </a:solidFill>
                <a:effectLst/>
                <a:latin typeface="Arial" panose="020B0604020202020204" pitchFamily="34" charset="0"/>
              </a:rPr>
              <a:t>bind_param</a:t>
            </a:r>
            <a:r>
              <a:rPr kumimoji="0" lang="en-US" altLang="en-US" sz="1400" b="0" i="0" u="none" strike="noStrike" cap="none" normalizeH="0" baseline="0" dirty="0">
                <a:ln>
                  <a:noFill/>
                </a:ln>
                <a:solidFill>
                  <a:schemeClr val="tx1"/>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ssdiisss</a:t>
            </a:r>
            <a:r>
              <a:rPr kumimoji="0" lang="en-US" altLang="en-US" sz="1400" b="0" i="0" u="none" strike="noStrike" cap="none" normalizeH="0" baseline="0" dirty="0">
                <a:ln>
                  <a:noFill/>
                </a:ln>
                <a:solidFill>
                  <a:schemeClr val="tx1"/>
                </a:solidFill>
                <a:effectLst/>
                <a:latin typeface="Arial" panose="020B0604020202020204" pitchFamily="34" charset="0"/>
              </a:rPr>
              <a:t>', $title, $showtime, $</a:t>
            </a:r>
            <a:r>
              <a:rPr kumimoji="0" lang="en-US" altLang="en-US" sz="1400" b="0" i="0" u="none" strike="noStrike" cap="none" normalizeH="0" baseline="0" dirty="0" err="1">
                <a:ln>
                  <a:noFill/>
                </a:ln>
                <a:solidFill>
                  <a:schemeClr val="tx1"/>
                </a:solidFill>
                <a:effectLst/>
                <a:latin typeface="Arial" panose="020B0604020202020204" pitchFamily="34" charset="0"/>
              </a:rPr>
              <a:t>release_date</a:t>
            </a:r>
            <a:r>
              <a:rPr kumimoji="0" lang="en-US" altLang="en-US" sz="1400" b="0" i="0" u="none" strike="noStrike" cap="none" normalizeH="0" baseline="0" dirty="0">
                <a:ln>
                  <a:noFill/>
                </a:ln>
                <a:solidFill>
                  <a:schemeClr val="tx1"/>
                </a:solidFill>
                <a:effectLst/>
                <a:latin typeface="Arial" panose="020B0604020202020204" pitchFamily="34" charset="0"/>
              </a:rPr>
              <a:t>, $price, $seats, $</a:t>
            </a:r>
            <a:r>
              <a:rPr kumimoji="0" lang="en-US" altLang="en-US" sz="1400" b="0" i="0" u="none" strike="noStrike" cap="none" normalizeH="0" baseline="0" dirty="0" err="1">
                <a:ln>
                  <a:noFill/>
                </a:ln>
                <a:solidFill>
                  <a:schemeClr val="tx1"/>
                </a:solidFill>
                <a:effectLst/>
                <a:latin typeface="Arial" panose="020B0604020202020204" pitchFamily="34" charset="0"/>
              </a:rPr>
              <a:t>theater_id</a:t>
            </a:r>
            <a:r>
              <a:rPr kumimoji="0" lang="en-US" altLang="en-US" sz="1400" b="0" i="0" u="none" strike="noStrike" cap="none" normalizeH="0" baseline="0" dirty="0">
                <a:ln>
                  <a:noFill/>
                </a:ln>
                <a:solidFill>
                  <a:schemeClr val="tx1"/>
                </a:solidFill>
                <a:effectLst/>
                <a:latin typeface="Arial" panose="020B0604020202020204" pitchFamily="34" charset="0"/>
              </a:rPr>
              <a:t>, $genre, $duration);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stmt</a:t>
            </a:r>
            <a:r>
              <a:rPr kumimoji="0" lang="en-US" altLang="en-US" sz="1400" b="0" i="0" u="none" strike="noStrike" cap="none" normalizeH="0" baseline="0" dirty="0">
                <a:ln>
                  <a:noFill/>
                </a:ln>
                <a:solidFill>
                  <a:schemeClr val="tx1"/>
                </a:solidFill>
                <a:effectLst/>
                <a:latin typeface="Arial" panose="020B0604020202020204" pitchFamily="34" charset="0"/>
              </a:rPr>
              <a:t>-&gt;execute();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a:t>
            </a:r>
            <a:r>
              <a:rPr kumimoji="0" lang="en-US" altLang="en-US" sz="1400" b="0" i="0" u="none" strike="noStrike" cap="none" normalizeH="0" baseline="0" dirty="0" err="1">
                <a:ln>
                  <a:noFill/>
                </a:ln>
                <a:solidFill>
                  <a:schemeClr val="tx1"/>
                </a:solidFill>
                <a:effectLst/>
                <a:latin typeface="Arial" panose="020B0604020202020204" pitchFamily="34" charset="0"/>
              </a:rPr>
              <a:t>stmt</a:t>
            </a:r>
            <a:r>
              <a:rPr kumimoji="0" lang="en-US" altLang="en-US" sz="1400" b="0" i="0" u="none" strike="noStrike" cap="none" normalizeH="0" baseline="0" dirty="0">
                <a:ln>
                  <a:noFill/>
                </a:ln>
                <a:solidFill>
                  <a:schemeClr val="tx1"/>
                </a:solidFill>
                <a:effectLst/>
                <a:latin typeface="Arial" panose="020B0604020202020204" pitchFamily="34" charset="0"/>
              </a:rPr>
              <a:t>-&gt;close();//adding new movies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pic>
        <p:nvPicPr>
          <p:cNvPr id="10" name="Picture 9">
            <a:extLst>
              <a:ext uri="{FF2B5EF4-FFF2-40B4-BE49-F238E27FC236}">
                <a16:creationId xmlns:a16="http://schemas.microsoft.com/office/drawing/2014/main" id="{4B774349-9F2B-4C08-86F3-471B940324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608" y="3533133"/>
            <a:ext cx="4537561" cy="3215443"/>
          </a:xfrm>
          <a:prstGeom prst="rect">
            <a:avLst/>
          </a:prstGeom>
        </p:spPr>
      </p:pic>
      <p:pic>
        <p:nvPicPr>
          <p:cNvPr id="12" name="Picture 11">
            <a:extLst>
              <a:ext uri="{FF2B5EF4-FFF2-40B4-BE49-F238E27FC236}">
                <a16:creationId xmlns:a16="http://schemas.microsoft.com/office/drawing/2014/main" id="{77AB1C79-580B-4583-B6B7-8C738D2957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7825" y="4641129"/>
            <a:ext cx="6698484" cy="2107447"/>
          </a:xfrm>
          <a:prstGeom prst="rect">
            <a:avLst/>
          </a:prstGeom>
        </p:spPr>
      </p:pic>
    </p:spTree>
    <p:extLst>
      <p:ext uri="{BB962C8B-B14F-4D97-AF65-F5344CB8AC3E}">
        <p14:creationId xmlns:p14="http://schemas.microsoft.com/office/powerpoint/2010/main" val="2770211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80F7331-18D0-44FC-B4B7-4856C3DC0922}"/>
              </a:ext>
            </a:extLst>
          </p:cNvPr>
          <p:cNvSpPr>
            <a:spLocks noGrp="1" noChangeArrowheads="1"/>
          </p:cNvSpPr>
          <p:nvPr>
            <p:ph idx="1"/>
          </p:nvPr>
        </p:nvSpPr>
        <p:spPr bwMode="auto">
          <a:xfrm>
            <a:off x="113581" y="2429337"/>
            <a:ext cx="12548628"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Conclusion</a:t>
            </a:r>
            <a:endParaRPr kumimoji="0" lang="en-US" altLang="en-US"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The system maintains secure, reliable cinema operations.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Users can register, book seats, and score movies smoothly.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Managers retain full control over movies, theaters, bookings, and approvals.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Transactions and prepared statements ensure data accuracy and safety.</a:t>
            </a:r>
          </a:p>
        </p:txBody>
      </p:sp>
      <p:sp>
        <p:nvSpPr>
          <p:cNvPr id="5" name="Title 1">
            <a:extLst>
              <a:ext uri="{FF2B5EF4-FFF2-40B4-BE49-F238E27FC236}">
                <a16:creationId xmlns:a16="http://schemas.microsoft.com/office/drawing/2014/main" id="{8D035BCB-CB20-4703-84F6-E9018046867F}"/>
              </a:ext>
            </a:extLst>
          </p:cNvPr>
          <p:cNvSpPr txBox="1">
            <a:spLocks/>
          </p:cNvSpPr>
          <p:nvPr/>
        </p:nvSpPr>
        <p:spPr>
          <a:xfrm>
            <a:off x="0" y="0"/>
            <a:ext cx="12192000" cy="211347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11500" dirty="0"/>
              <a:t>CONCLUSION</a:t>
            </a:r>
          </a:p>
        </p:txBody>
      </p:sp>
    </p:spTree>
    <p:extLst>
      <p:ext uri="{BB962C8B-B14F-4D97-AF65-F5344CB8AC3E}">
        <p14:creationId xmlns:p14="http://schemas.microsoft.com/office/powerpoint/2010/main" val="4144548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412E1AB-0E06-4A50-BC66-7FA39C19CA47}"/>
              </a:ext>
            </a:extLst>
          </p:cNvPr>
          <p:cNvSpPr txBox="1">
            <a:spLocks/>
          </p:cNvSpPr>
          <p:nvPr/>
        </p:nvSpPr>
        <p:spPr>
          <a:xfrm>
            <a:off x="0" y="0"/>
            <a:ext cx="12192000" cy="2113472"/>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en-US" sz="11500" dirty="0"/>
              <a:t>THANK YOU</a:t>
            </a:r>
          </a:p>
        </p:txBody>
      </p:sp>
      <p:sp>
        <p:nvSpPr>
          <p:cNvPr id="6" name="TextBox 5">
            <a:extLst>
              <a:ext uri="{FF2B5EF4-FFF2-40B4-BE49-F238E27FC236}">
                <a16:creationId xmlns:a16="http://schemas.microsoft.com/office/drawing/2014/main" id="{37E6020A-8091-4EA5-9F11-D9A68859C3CE}"/>
              </a:ext>
            </a:extLst>
          </p:cNvPr>
          <p:cNvSpPr txBox="1"/>
          <p:nvPr/>
        </p:nvSpPr>
        <p:spPr>
          <a:xfrm>
            <a:off x="2812212" y="2964950"/>
            <a:ext cx="7533016"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200" b="0" i="0" u="none" strike="noStrike" cap="none" normalizeH="0" baseline="0" dirty="0">
                <a:ln>
                  <a:noFill/>
                </a:ln>
                <a:solidFill>
                  <a:schemeClr val="tx1"/>
                </a:solidFill>
                <a:effectLst/>
                <a:latin typeface="Arial" panose="020B0604020202020204" pitchFamily="34" charset="0"/>
              </a:rPr>
              <a:t>Any questions?</a:t>
            </a:r>
          </a:p>
        </p:txBody>
      </p:sp>
    </p:spTree>
    <p:extLst>
      <p:ext uri="{BB962C8B-B14F-4D97-AF65-F5344CB8AC3E}">
        <p14:creationId xmlns:p14="http://schemas.microsoft.com/office/powerpoint/2010/main" val="752092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TotalTime>
  <Words>2381</Words>
  <Application>Microsoft Office PowerPoint</Application>
  <PresentationFormat>Widescreen</PresentationFormat>
  <Paragraphs>135</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Lato</vt:lpstr>
      <vt:lpstr>Wingdings</vt:lpstr>
      <vt:lpstr>Office Theme</vt:lpstr>
      <vt:lpstr>Project: Cinema Booking System CSE311, Section-8, Fall-2025</vt:lpstr>
      <vt:lpstr> Project Overview</vt:lpstr>
      <vt:lpstr>Entity-Relationship Diagram</vt:lpstr>
      <vt:lpstr>Relational Schema</vt:lpstr>
      <vt:lpstr>Relational Schema</vt:lpstr>
      <vt:lpstr>Normalization(From 1NF to BCNF)</vt:lpstr>
      <vt:lpstr>Sample Queries</vt:lpstr>
      <vt:lpstr>SQL</vt:lpstr>
      <vt:lpstr>FEATURES</vt:lpstr>
      <vt:lpstr>Booking Seats</vt:lpstr>
      <vt:lpstr>Prepared Statement</vt:lpstr>
      <vt:lpstr>Seat Booking and Restoration</vt:lpstr>
      <vt:lpstr>Seat Booking and Restoration</vt:lpstr>
      <vt:lpstr>Manager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Cinema Booking System CSE311, Section-8, Fall-2025</dc:title>
  <dc:creator>Farhan Rafid</dc:creator>
  <cp:lastModifiedBy>Farhan Rafid</cp:lastModifiedBy>
  <cp:revision>33</cp:revision>
  <dcterms:created xsi:type="dcterms:W3CDTF">2025-12-03T14:18:21Z</dcterms:created>
  <dcterms:modified xsi:type="dcterms:W3CDTF">2025-12-03T18:14:13Z</dcterms:modified>
</cp:coreProperties>
</file>